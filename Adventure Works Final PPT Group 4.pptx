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ptos Bold" charset="1" panose="020B0004020202020204"/>
      <p:regular r:id="rId17"/>
    </p:embeddedFont>
    <p:embeddedFont>
      <p:font typeface="Aptos" charset="1" panose="020B0004020202020204"/>
      <p:regular r:id="rId18"/>
    </p:embeddedFont>
    <p:embeddedFont>
      <p:font typeface="Century Gothic Paneuropean" charset="1" panose="020B0502020202020204"/>
      <p:regular r:id="rId19"/>
    </p:embeddedFont>
    <p:embeddedFont>
      <p:font typeface="Century Gothic Paneuropean Bold" charset="1" panose="020B0702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150" y="9430"/>
            <a:ext cx="18247525" cy="10309851"/>
          </a:xfrm>
          <a:custGeom>
            <a:avLst/>
            <a:gdLst/>
            <a:ahLst/>
            <a:cxnLst/>
            <a:rect r="r" b="b" t="t" l="l"/>
            <a:pathLst>
              <a:path h="10309851" w="18247525">
                <a:moveTo>
                  <a:pt x="0" y="0"/>
                </a:moveTo>
                <a:lnTo>
                  <a:pt x="18247525" y="0"/>
                </a:lnTo>
                <a:lnTo>
                  <a:pt x="18247525" y="10309851"/>
                </a:lnTo>
                <a:lnTo>
                  <a:pt x="0" y="10309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394240">
            <a:off x="7262803" y="5138738"/>
            <a:ext cx="7968625" cy="0"/>
          </a:xfrm>
          <a:prstGeom prst="line">
            <a:avLst/>
          </a:prstGeom>
          <a:ln cap="rnd" w="9525">
            <a:solidFill>
              <a:srgbClr val="13304A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5394240">
            <a:off x="8017183" y="5138738"/>
            <a:ext cx="7968625" cy="0"/>
          </a:xfrm>
          <a:prstGeom prst="line">
            <a:avLst/>
          </a:prstGeom>
          <a:ln cap="rnd" w="9525">
            <a:solidFill>
              <a:srgbClr val="13304A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5394240">
            <a:off x="8771563" y="5138738"/>
            <a:ext cx="7968625" cy="0"/>
          </a:xfrm>
          <a:prstGeom prst="line">
            <a:avLst/>
          </a:prstGeom>
          <a:ln cap="rnd" w="9525">
            <a:solidFill>
              <a:srgbClr val="13304A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5394240">
            <a:off x="9525943" y="5138738"/>
            <a:ext cx="7968625" cy="0"/>
          </a:xfrm>
          <a:prstGeom prst="line">
            <a:avLst/>
          </a:prstGeom>
          <a:ln cap="rnd" w="9525">
            <a:solidFill>
              <a:srgbClr val="13304A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5394240">
            <a:off x="10280323" y="5138738"/>
            <a:ext cx="7968625" cy="0"/>
          </a:xfrm>
          <a:prstGeom prst="line">
            <a:avLst/>
          </a:prstGeom>
          <a:ln cap="rnd" w="9525">
            <a:solidFill>
              <a:srgbClr val="13304A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5394240">
            <a:off x="11034703" y="5138738"/>
            <a:ext cx="7968625" cy="0"/>
          </a:xfrm>
          <a:prstGeom prst="line">
            <a:avLst/>
          </a:prstGeom>
          <a:ln cap="rnd" w="9525">
            <a:solidFill>
              <a:srgbClr val="13304A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5394240">
            <a:off x="11789083" y="5138738"/>
            <a:ext cx="7968625" cy="0"/>
          </a:xfrm>
          <a:prstGeom prst="line">
            <a:avLst/>
          </a:prstGeom>
          <a:ln cap="rnd" w="9525">
            <a:solidFill>
              <a:srgbClr val="13304A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5394240">
            <a:off x="12543463" y="5138738"/>
            <a:ext cx="7968625" cy="0"/>
          </a:xfrm>
          <a:prstGeom prst="line">
            <a:avLst/>
          </a:prstGeom>
          <a:ln cap="rnd" w="9525">
            <a:solidFill>
              <a:srgbClr val="13304A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7740">
            <a:off x="10966123" y="1709738"/>
            <a:ext cx="5911234" cy="0"/>
          </a:xfrm>
          <a:prstGeom prst="line">
            <a:avLst/>
          </a:prstGeom>
          <a:ln cap="rnd" w="9525">
            <a:solidFill>
              <a:srgbClr val="13304A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7740">
            <a:off x="10966123" y="2464117"/>
            <a:ext cx="5911234" cy="0"/>
          </a:xfrm>
          <a:prstGeom prst="line">
            <a:avLst/>
          </a:prstGeom>
          <a:ln cap="rnd" w="9525">
            <a:solidFill>
              <a:srgbClr val="13304A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7740">
            <a:off x="10966123" y="3218498"/>
            <a:ext cx="5911234" cy="0"/>
          </a:xfrm>
          <a:prstGeom prst="line">
            <a:avLst/>
          </a:prstGeom>
          <a:ln cap="rnd" w="9525">
            <a:solidFill>
              <a:srgbClr val="13304A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7740">
            <a:off x="10966123" y="3972878"/>
            <a:ext cx="5911234" cy="0"/>
          </a:xfrm>
          <a:prstGeom prst="line">
            <a:avLst/>
          </a:prstGeom>
          <a:ln cap="rnd" w="9525">
            <a:solidFill>
              <a:srgbClr val="13304A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7740">
            <a:off x="10966123" y="4727258"/>
            <a:ext cx="5911234" cy="0"/>
          </a:xfrm>
          <a:prstGeom prst="line">
            <a:avLst/>
          </a:prstGeom>
          <a:ln cap="rnd" w="9525">
            <a:solidFill>
              <a:srgbClr val="13304A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7740">
            <a:off x="10966123" y="5481638"/>
            <a:ext cx="5911234" cy="0"/>
          </a:xfrm>
          <a:prstGeom prst="line">
            <a:avLst/>
          </a:prstGeom>
          <a:ln cap="rnd" w="9525">
            <a:solidFill>
              <a:srgbClr val="13304A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7740">
            <a:off x="10966123" y="6236018"/>
            <a:ext cx="5911234" cy="0"/>
          </a:xfrm>
          <a:prstGeom prst="line">
            <a:avLst/>
          </a:prstGeom>
          <a:ln cap="rnd" w="9525">
            <a:solidFill>
              <a:srgbClr val="13304A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7740">
            <a:off x="10966123" y="6990397"/>
            <a:ext cx="5911234" cy="0"/>
          </a:xfrm>
          <a:prstGeom prst="line">
            <a:avLst/>
          </a:prstGeom>
          <a:ln cap="rnd" w="9525">
            <a:solidFill>
              <a:srgbClr val="13304A">
                <a:alpha val="64706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1125962" y="1428750"/>
            <a:ext cx="6126480" cy="7498080"/>
            <a:chOff x="0" y="0"/>
            <a:chExt cx="8168640" cy="9997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68640" cy="9997440"/>
            </a:xfrm>
            <a:custGeom>
              <a:avLst/>
              <a:gdLst/>
              <a:ahLst/>
              <a:cxnLst/>
              <a:rect r="r" b="b" t="t" l="l"/>
              <a:pathLst>
                <a:path h="999744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0B1F33"/>
            </a:solidFill>
            <a:ln w="22860" cap="sq">
              <a:solidFill>
                <a:srgbClr val="1769A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511915" y="1814703"/>
            <a:ext cx="5354574" cy="1006602"/>
            <a:chOff x="0" y="0"/>
            <a:chExt cx="7139432" cy="13421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39432" cy="1342136"/>
            </a:xfrm>
            <a:custGeom>
              <a:avLst/>
              <a:gdLst/>
              <a:ahLst/>
              <a:cxnLst/>
              <a:rect r="r" b="b" t="t" l="l"/>
              <a:pathLst>
                <a:path h="1342136" w="7139432">
                  <a:moveTo>
                    <a:pt x="0" y="0"/>
                  </a:moveTo>
                  <a:lnTo>
                    <a:pt x="7139432" y="0"/>
                  </a:lnTo>
                  <a:lnTo>
                    <a:pt x="7139432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0F2B4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850624" y="2125980"/>
            <a:ext cx="4526280" cy="342900"/>
            <a:chOff x="0" y="0"/>
            <a:chExt cx="6035040" cy="457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35040" cy="457200"/>
            </a:xfrm>
            <a:custGeom>
              <a:avLst/>
              <a:gdLst/>
              <a:ahLst/>
              <a:cxnLst/>
              <a:rect r="r" b="b" t="t" l="l"/>
              <a:pathLst>
                <a:path h="4572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202" r="0" b="-20720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60350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 spc="179">
                  <a:solidFill>
                    <a:srgbClr val="42C8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ADVENTURE WORKS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566779" y="3172587"/>
            <a:ext cx="2378202" cy="2145030"/>
            <a:chOff x="0" y="0"/>
            <a:chExt cx="3170936" cy="2860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70936" cy="2860040"/>
            </a:xfrm>
            <a:custGeom>
              <a:avLst/>
              <a:gdLst/>
              <a:ahLst/>
              <a:cxnLst/>
              <a:rect r="r" b="b" t="t" l="l"/>
              <a:pathLst>
                <a:path h="2860040" w="3170936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3041777" y="0"/>
                  </a:lnTo>
                  <a:cubicBezTo>
                    <a:pt x="3113151" y="0"/>
                    <a:pt x="3170936" y="57785"/>
                    <a:pt x="3170936" y="129159"/>
                  </a:cubicBezTo>
                  <a:lnTo>
                    <a:pt x="3170936" y="2730881"/>
                  </a:lnTo>
                  <a:cubicBezTo>
                    <a:pt x="3170936" y="2802255"/>
                    <a:pt x="3113151" y="2860040"/>
                    <a:pt x="3041777" y="2860040"/>
                  </a:cubicBezTo>
                  <a:lnTo>
                    <a:pt x="129159" y="2860040"/>
                  </a:lnTo>
                  <a:cubicBezTo>
                    <a:pt x="57785" y="2860040"/>
                    <a:pt x="0" y="2802255"/>
                    <a:pt x="0" y="2730881"/>
                  </a:cubicBezTo>
                  <a:close/>
                </a:path>
              </a:pathLst>
            </a:custGeom>
            <a:solidFill>
              <a:srgbClr val="102B41"/>
            </a:solidFill>
            <a:ln w="19050" cap="sq">
              <a:solidFill>
                <a:srgbClr val="1E5474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1740896" y="3387852"/>
            <a:ext cx="548640" cy="411480"/>
            <a:chOff x="0" y="0"/>
            <a:chExt cx="73152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7315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C8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▦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782044" y="3950208"/>
            <a:ext cx="1947672" cy="356616"/>
            <a:chOff x="0" y="0"/>
            <a:chExt cx="2596896" cy="4754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96896" cy="475488"/>
            </a:xfrm>
            <a:custGeom>
              <a:avLst/>
              <a:gdLst/>
              <a:ahLst/>
              <a:cxnLst/>
              <a:rect r="r" b="b" t="t" l="l"/>
              <a:pathLst>
                <a:path h="475488" w="2596896">
                  <a:moveTo>
                    <a:pt x="0" y="0"/>
                  </a:moveTo>
                  <a:lnTo>
                    <a:pt x="2596896" y="0"/>
                  </a:lnTo>
                  <a:lnTo>
                    <a:pt x="25968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418" r="0" b="-5641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596896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EXCEL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754612" y="4457700"/>
            <a:ext cx="2002536" cy="452628"/>
            <a:chOff x="0" y="0"/>
            <a:chExt cx="2670048" cy="6035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670048" cy="603504"/>
            </a:xfrm>
            <a:custGeom>
              <a:avLst/>
              <a:gdLst/>
              <a:ahLst/>
              <a:cxnLst/>
              <a:rect r="r" b="b" t="t" l="l"/>
              <a:pathLst>
                <a:path h="60350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06" r="0" b="-3620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2670048" cy="6130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A9C2D8"/>
                  </a:solidFill>
                  <a:latin typeface="Aptos"/>
                  <a:ea typeface="Aptos"/>
                  <a:cs typeface="Aptos"/>
                  <a:sym typeface="Aptos"/>
                </a:rPr>
                <a:t>Data Preparation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186535" y="3172587"/>
            <a:ext cx="2378202" cy="2145030"/>
            <a:chOff x="0" y="0"/>
            <a:chExt cx="3170936" cy="2860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170936" cy="2860040"/>
            </a:xfrm>
            <a:custGeom>
              <a:avLst/>
              <a:gdLst/>
              <a:ahLst/>
              <a:cxnLst/>
              <a:rect r="r" b="b" t="t" l="l"/>
              <a:pathLst>
                <a:path h="2860040" w="3170936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3041777" y="0"/>
                  </a:lnTo>
                  <a:cubicBezTo>
                    <a:pt x="3113151" y="0"/>
                    <a:pt x="3170936" y="57785"/>
                    <a:pt x="3170936" y="129159"/>
                  </a:cubicBezTo>
                  <a:lnTo>
                    <a:pt x="3170936" y="2730881"/>
                  </a:lnTo>
                  <a:cubicBezTo>
                    <a:pt x="3170936" y="2802255"/>
                    <a:pt x="3113151" y="2860040"/>
                    <a:pt x="3041777" y="2860040"/>
                  </a:cubicBezTo>
                  <a:lnTo>
                    <a:pt x="129159" y="2860040"/>
                  </a:lnTo>
                  <a:cubicBezTo>
                    <a:pt x="57785" y="2860040"/>
                    <a:pt x="0" y="2802255"/>
                    <a:pt x="0" y="2730881"/>
                  </a:cubicBezTo>
                  <a:close/>
                </a:path>
              </a:pathLst>
            </a:custGeom>
            <a:solidFill>
              <a:srgbClr val="102B41"/>
            </a:solidFill>
            <a:ln w="19050" cap="sq">
              <a:solidFill>
                <a:srgbClr val="1E5474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4360652" y="3387852"/>
            <a:ext cx="548640" cy="411480"/>
            <a:chOff x="0" y="0"/>
            <a:chExt cx="73152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7315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C8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◈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401800" y="3950208"/>
            <a:ext cx="1947672" cy="356616"/>
            <a:chOff x="0" y="0"/>
            <a:chExt cx="2596896" cy="4754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96896" cy="475488"/>
            </a:xfrm>
            <a:custGeom>
              <a:avLst/>
              <a:gdLst/>
              <a:ahLst/>
              <a:cxnLst/>
              <a:rect r="r" b="b" t="t" l="l"/>
              <a:pathLst>
                <a:path h="475488" w="2596896">
                  <a:moveTo>
                    <a:pt x="0" y="0"/>
                  </a:moveTo>
                  <a:lnTo>
                    <a:pt x="2596896" y="0"/>
                  </a:lnTo>
                  <a:lnTo>
                    <a:pt x="25968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418" r="0" b="-5641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2596896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SQL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374368" y="4457700"/>
            <a:ext cx="2002536" cy="452628"/>
            <a:chOff x="0" y="0"/>
            <a:chExt cx="2670048" cy="60350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70048" cy="603504"/>
            </a:xfrm>
            <a:custGeom>
              <a:avLst/>
              <a:gdLst/>
              <a:ahLst/>
              <a:cxnLst/>
              <a:rect r="r" b="b" t="t" l="l"/>
              <a:pathLst>
                <a:path h="60350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06" r="0" b="-3620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2670048" cy="6130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A9C2D8"/>
                  </a:solidFill>
                  <a:latin typeface="Aptos"/>
                  <a:ea typeface="Aptos"/>
                  <a:cs typeface="Aptos"/>
                  <a:sym typeface="Aptos"/>
                </a:rPr>
                <a:t>Data Queries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566779" y="5655183"/>
            <a:ext cx="2378202" cy="2145030"/>
            <a:chOff x="0" y="0"/>
            <a:chExt cx="3170936" cy="2860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170936" cy="2860040"/>
            </a:xfrm>
            <a:custGeom>
              <a:avLst/>
              <a:gdLst/>
              <a:ahLst/>
              <a:cxnLst/>
              <a:rect r="r" b="b" t="t" l="l"/>
              <a:pathLst>
                <a:path h="2860040" w="3170936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3041777" y="0"/>
                  </a:lnTo>
                  <a:cubicBezTo>
                    <a:pt x="3113151" y="0"/>
                    <a:pt x="3170936" y="57785"/>
                    <a:pt x="3170936" y="129159"/>
                  </a:cubicBezTo>
                  <a:lnTo>
                    <a:pt x="3170936" y="2730881"/>
                  </a:lnTo>
                  <a:cubicBezTo>
                    <a:pt x="3170936" y="2802255"/>
                    <a:pt x="3113151" y="2860040"/>
                    <a:pt x="3041777" y="2860040"/>
                  </a:cubicBezTo>
                  <a:lnTo>
                    <a:pt x="129159" y="2860040"/>
                  </a:lnTo>
                  <a:cubicBezTo>
                    <a:pt x="57785" y="2860040"/>
                    <a:pt x="0" y="2802255"/>
                    <a:pt x="0" y="2730881"/>
                  </a:cubicBezTo>
                  <a:close/>
                </a:path>
              </a:pathLst>
            </a:custGeom>
            <a:solidFill>
              <a:srgbClr val="102B41"/>
            </a:solidFill>
            <a:ln w="19050" cap="sq">
              <a:solidFill>
                <a:srgbClr val="1E5474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740896" y="5870448"/>
            <a:ext cx="548640" cy="411480"/>
            <a:chOff x="0" y="0"/>
            <a:chExt cx="73152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7315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C8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◫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782044" y="6432804"/>
            <a:ext cx="1947672" cy="356616"/>
            <a:chOff x="0" y="0"/>
            <a:chExt cx="2596896" cy="47548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596896" cy="475488"/>
            </a:xfrm>
            <a:custGeom>
              <a:avLst/>
              <a:gdLst/>
              <a:ahLst/>
              <a:cxnLst/>
              <a:rect r="r" b="b" t="t" l="l"/>
              <a:pathLst>
                <a:path h="475488" w="2596896">
                  <a:moveTo>
                    <a:pt x="0" y="0"/>
                  </a:moveTo>
                  <a:lnTo>
                    <a:pt x="2596896" y="0"/>
                  </a:lnTo>
                  <a:lnTo>
                    <a:pt x="25968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418" r="0" b="-5641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2596896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POWER BI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754612" y="6940296"/>
            <a:ext cx="2002536" cy="452628"/>
            <a:chOff x="0" y="0"/>
            <a:chExt cx="2670048" cy="60350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670048" cy="603504"/>
            </a:xfrm>
            <a:custGeom>
              <a:avLst/>
              <a:gdLst/>
              <a:ahLst/>
              <a:cxnLst/>
              <a:rect r="r" b="b" t="t" l="l"/>
              <a:pathLst>
                <a:path h="60350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06" r="0" b="-3620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2670048" cy="6130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A9C2D8"/>
                  </a:solidFill>
                  <a:latin typeface="Aptos"/>
                  <a:ea typeface="Aptos"/>
                  <a:cs typeface="Aptos"/>
                  <a:sym typeface="Aptos"/>
                </a:rPr>
                <a:t>Dashboarding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186535" y="5655183"/>
            <a:ext cx="2378202" cy="2145030"/>
            <a:chOff x="0" y="0"/>
            <a:chExt cx="3170936" cy="28600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70936" cy="2860040"/>
            </a:xfrm>
            <a:custGeom>
              <a:avLst/>
              <a:gdLst/>
              <a:ahLst/>
              <a:cxnLst/>
              <a:rect r="r" b="b" t="t" l="l"/>
              <a:pathLst>
                <a:path h="2860040" w="3170936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3041777" y="0"/>
                  </a:lnTo>
                  <a:cubicBezTo>
                    <a:pt x="3113151" y="0"/>
                    <a:pt x="3170936" y="57785"/>
                    <a:pt x="3170936" y="129159"/>
                  </a:cubicBezTo>
                  <a:lnTo>
                    <a:pt x="3170936" y="2730881"/>
                  </a:lnTo>
                  <a:cubicBezTo>
                    <a:pt x="3170936" y="2802255"/>
                    <a:pt x="3113151" y="2860040"/>
                    <a:pt x="3041777" y="2860040"/>
                  </a:cubicBezTo>
                  <a:lnTo>
                    <a:pt x="129159" y="2860040"/>
                  </a:lnTo>
                  <a:cubicBezTo>
                    <a:pt x="57785" y="2860040"/>
                    <a:pt x="0" y="2802255"/>
                    <a:pt x="0" y="2730881"/>
                  </a:cubicBezTo>
                  <a:close/>
                </a:path>
              </a:pathLst>
            </a:custGeom>
            <a:solidFill>
              <a:srgbClr val="102B41"/>
            </a:solidFill>
            <a:ln w="19050" cap="sq">
              <a:solidFill>
                <a:srgbClr val="1E5474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4360652" y="5870448"/>
            <a:ext cx="548640" cy="411480"/>
            <a:chOff x="0" y="0"/>
            <a:chExt cx="73152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7315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C8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◉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4401800" y="6432804"/>
            <a:ext cx="1947672" cy="356616"/>
            <a:chOff x="0" y="0"/>
            <a:chExt cx="2596896" cy="47548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596896" cy="475488"/>
            </a:xfrm>
            <a:custGeom>
              <a:avLst/>
              <a:gdLst/>
              <a:ahLst/>
              <a:cxnLst/>
              <a:rect r="r" b="b" t="t" l="l"/>
              <a:pathLst>
                <a:path h="475488" w="2596896">
                  <a:moveTo>
                    <a:pt x="0" y="0"/>
                  </a:moveTo>
                  <a:lnTo>
                    <a:pt x="2596896" y="0"/>
                  </a:lnTo>
                  <a:lnTo>
                    <a:pt x="25968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418" r="0" b="-5641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2596896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TABLEAU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374368" y="6940296"/>
            <a:ext cx="2002536" cy="452628"/>
            <a:chOff x="0" y="0"/>
            <a:chExt cx="2670048" cy="60350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670048" cy="603504"/>
            </a:xfrm>
            <a:custGeom>
              <a:avLst/>
              <a:gdLst/>
              <a:ahLst/>
              <a:cxnLst/>
              <a:rect r="r" b="b" t="t" l="l"/>
              <a:pathLst>
                <a:path h="60350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06" r="0" b="-3620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2670048" cy="6130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A9C2D8"/>
                  </a:solidFill>
                  <a:latin typeface="Aptos"/>
                  <a:ea typeface="Aptos"/>
                  <a:cs typeface="Aptos"/>
                  <a:sym typeface="Aptos"/>
                </a:rPr>
                <a:t>Visualization</a:t>
              </a:r>
            </a:p>
          </p:txBody>
        </p:sp>
      </p:grpSp>
      <p:sp>
        <p:nvSpPr>
          <p:cNvPr name="AutoShape 75" id="75"/>
          <p:cNvSpPr/>
          <p:nvPr/>
        </p:nvSpPr>
        <p:spPr>
          <a:xfrm rot="334080">
            <a:off x="13921473" y="4247197"/>
            <a:ext cx="274853" cy="0"/>
          </a:xfrm>
          <a:prstGeom prst="line">
            <a:avLst/>
          </a:prstGeom>
          <a:ln cap="rnd" w="9525">
            <a:solidFill>
              <a:srgbClr val="00C8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6" id="76"/>
          <p:cNvSpPr/>
          <p:nvPr/>
        </p:nvSpPr>
        <p:spPr>
          <a:xfrm rot="5152320">
            <a:off x="12556903" y="5488496"/>
            <a:ext cx="370532" cy="0"/>
          </a:xfrm>
          <a:prstGeom prst="line">
            <a:avLst/>
          </a:prstGeom>
          <a:ln cap="rnd" w="9525">
            <a:solidFill>
              <a:srgbClr val="00C8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7" id="77"/>
          <p:cNvSpPr/>
          <p:nvPr/>
        </p:nvSpPr>
        <p:spPr>
          <a:xfrm rot="5152320">
            <a:off x="15190375" y="5488496"/>
            <a:ext cx="370532" cy="0"/>
          </a:xfrm>
          <a:prstGeom prst="line">
            <a:avLst/>
          </a:prstGeom>
          <a:ln cap="rnd" w="9525">
            <a:solidFill>
              <a:srgbClr val="00C8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8" id="78"/>
          <p:cNvGrpSpPr/>
          <p:nvPr/>
        </p:nvGrpSpPr>
        <p:grpSpPr>
          <a:xfrm rot="0">
            <a:off x="987552" y="1453896"/>
            <a:ext cx="7955280" cy="617220"/>
            <a:chOff x="0" y="0"/>
            <a:chExt cx="10607040" cy="8229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607040" cy="822960"/>
            </a:xfrm>
            <a:custGeom>
              <a:avLst/>
              <a:gdLst/>
              <a:ahLst/>
              <a:cxnLst/>
              <a:rect r="r" b="b" t="t" l="l"/>
              <a:pathLst>
                <a:path h="82296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140" r="0" b="-20114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1060704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 spc="255">
                  <a:solidFill>
                    <a:srgbClr val="42C8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ADVENTURE WORKS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87552" y="2125980"/>
            <a:ext cx="9052560" cy="713232"/>
            <a:chOff x="0" y="0"/>
            <a:chExt cx="12070080" cy="95097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2070080" cy="950976"/>
            </a:xfrm>
            <a:custGeom>
              <a:avLst/>
              <a:gdLst/>
              <a:ahLst/>
              <a:cxnLst/>
              <a:rect r="r" b="b" t="t" l="l"/>
              <a:pathLst>
                <a:path h="950976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310" r="0" b="-19731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9525"/>
              <a:ext cx="12070080" cy="941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050" spc="119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SALES ANALYTICS PROJECT</a:t>
              </a:r>
            </a:p>
          </p:txBody>
        </p:sp>
      </p:grpSp>
      <p:sp>
        <p:nvSpPr>
          <p:cNvPr name="AutoShape 84" id="84"/>
          <p:cNvSpPr/>
          <p:nvPr/>
        </p:nvSpPr>
        <p:spPr>
          <a:xfrm rot="120180">
            <a:off x="999630" y="3058096"/>
            <a:ext cx="1635490" cy="0"/>
          </a:xfrm>
          <a:prstGeom prst="line">
            <a:avLst/>
          </a:prstGeom>
          <a:ln cap="rnd" w="28575">
            <a:solidFill>
              <a:srgbClr val="00C8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5" id="85"/>
          <p:cNvGrpSpPr/>
          <p:nvPr/>
        </p:nvGrpSpPr>
        <p:grpSpPr>
          <a:xfrm rot="0">
            <a:off x="987552" y="3360420"/>
            <a:ext cx="8503920" cy="1124712"/>
            <a:chOff x="0" y="0"/>
            <a:chExt cx="11338560" cy="14996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133856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325" r="0" b="-9732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11338560" cy="1499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D7E6F3"/>
                  </a:solidFill>
                  <a:latin typeface="Aptos"/>
                  <a:ea typeface="Aptos"/>
                  <a:cs typeface="Aptos"/>
                  <a:sym typeface="Aptos"/>
                </a:rPr>
                <a:t>End-to-End Data Analytics using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D7E6F3"/>
                  </a:solidFill>
                  <a:latin typeface="Aptos"/>
                  <a:ea typeface="Aptos"/>
                  <a:cs typeface="Aptos"/>
                  <a:sym typeface="Aptos"/>
                </a:rPr>
                <a:t>Excel • SQL • Power BI • Tableau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78980" y="4970336"/>
            <a:ext cx="2195246" cy="707708"/>
            <a:chOff x="0" y="0"/>
            <a:chExt cx="2926994" cy="94361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926969" cy="943611"/>
            </a:xfrm>
            <a:custGeom>
              <a:avLst/>
              <a:gdLst/>
              <a:ahLst/>
              <a:cxnLst/>
              <a:rect r="r" b="b" t="t" l="l"/>
              <a:pathLst>
                <a:path h="943611" w="2926969">
                  <a:moveTo>
                    <a:pt x="0" y="157268"/>
                  </a:moveTo>
                  <a:cubicBezTo>
                    <a:pt x="0" y="70366"/>
                    <a:pt x="50800" y="0"/>
                    <a:pt x="113538" y="0"/>
                  </a:cubicBezTo>
                  <a:lnTo>
                    <a:pt x="2813431" y="0"/>
                  </a:lnTo>
                  <a:cubicBezTo>
                    <a:pt x="2876169" y="0"/>
                    <a:pt x="2926969" y="70366"/>
                    <a:pt x="2926969" y="157268"/>
                  </a:cubicBezTo>
                  <a:lnTo>
                    <a:pt x="2926969" y="786342"/>
                  </a:lnTo>
                  <a:cubicBezTo>
                    <a:pt x="2926969" y="873244"/>
                    <a:pt x="2876169" y="943611"/>
                    <a:pt x="2813431" y="943611"/>
                  </a:cubicBezTo>
                  <a:lnTo>
                    <a:pt x="113538" y="943611"/>
                  </a:lnTo>
                  <a:cubicBezTo>
                    <a:pt x="50800" y="943611"/>
                    <a:pt x="0" y="873244"/>
                    <a:pt x="0" y="786342"/>
                  </a:cubicBezTo>
                  <a:close/>
                </a:path>
              </a:pathLst>
            </a:custGeom>
            <a:solidFill>
              <a:srgbClr val="0B1F33"/>
            </a:solidFill>
            <a:ln w="17145" cap="sq">
              <a:solidFill>
                <a:srgbClr val="1769AA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129684" y="5177790"/>
            <a:ext cx="1958645" cy="249632"/>
            <a:chOff x="0" y="0"/>
            <a:chExt cx="2611526" cy="33284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611526" cy="332842"/>
            </a:xfrm>
            <a:custGeom>
              <a:avLst/>
              <a:gdLst/>
              <a:ahLst/>
              <a:cxnLst/>
              <a:rect r="r" b="b" t="t" l="l"/>
              <a:pathLst>
                <a:path h="332842" w="2611526">
                  <a:moveTo>
                    <a:pt x="0" y="0"/>
                  </a:moveTo>
                  <a:lnTo>
                    <a:pt x="2611526" y="0"/>
                  </a:lnTo>
                  <a:lnTo>
                    <a:pt x="2611526" y="332842"/>
                  </a:lnTo>
                  <a:lnTo>
                    <a:pt x="0" y="332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673" r="0" b="-9409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2611526" cy="342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07"/>
                </a:lnSpc>
              </a:pPr>
              <a:r>
                <a:rPr lang="en-US" sz="1339" b="true">
                  <a:solidFill>
                    <a:srgbClr val="9EDC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PREPARATION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3294240" y="4970336"/>
            <a:ext cx="1894865" cy="684848"/>
            <a:chOff x="0" y="0"/>
            <a:chExt cx="2526487" cy="91313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526538" cy="913130"/>
            </a:xfrm>
            <a:custGeom>
              <a:avLst/>
              <a:gdLst/>
              <a:ahLst/>
              <a:cxnLst/>
              <a:rect r="r" b="b" t="t" l="l"/>
              <a:pathLst>
                <a:path h="913130" w="2526538">
                  <a:moveTo>
                    <a:pt x="0" y="152188"/>
                  </a:moveTo>
                  <a:cubicBezTo>
                    <a:pt x="0" y="68093"/>
                    <a:pt x="50800" y="0"/>
                    <a:pt x="113538" y="0"/>
                  </a:cubicBezTo>
                  <a:lnTo>
                    <a:pt x="2413000" y="0"/>
                  </a:lnTo>
                  <a:cubicBezTo>
                    <a:pt x="2475738" y="0"/>
                    <a:pt x="2526538" y="68093"/>
                    <a:pt x="2526538" y="152188"/>
                  </a:cubicBezTo>
                  <a:lnTo>
                    <a:pt x="2526538" y="760942"/>
                  </a:lnTo>
                  <a:cubicBezTo>
                    <a:pt x="2526538" y="845037"/>
                    <a:pt x="2475738" y="913130"/>
                    <a:pt x="2413000" y="913130"/>
                  </a:cubicBezTo>
                  <a:lnTo>
                    <a:pt x="113538" y="913130"/>
                  </a:lnTo>
                  <a:cubicBezTo>
                    <a:pt x="50800" y="913130"/>
                    <a:pt x="0" y="845037"/>
                    <a:pt x="0" y="760942"/>
                  </a:cubicBezTo>
                  <a:close/>
                </a:path>
              </a:pathLst>
            </a:custGeom>
            <a:solidFill>
              <a:srgbClr val="0B1F33"/>
            </a:solidFill>
            <a:ln w="17145" cap="sq">
              <a:solidFill>
                <a:srgbClr val="1769AA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3374631" y="5177790"/>
            <a:ext cx="1658264" cy="249632"/>
            <a:chOff x="0" y="0"/>
            <a:chExt cx="2211019" cy="33284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211020" cy="332842"/>
            </a:xfrm>
            <a:custGeom>
              <a:avLst/>
              <a:gdLst/>
              <a:ahLst/>
              <a:cxnLst/>
              <a:rect r="r" b="b" t="t" l="l"/>
              <a:pathLst>
                <a:path h="332842" w="2211020">
                  <a:moveTo>
                    <a:pt x="0" y="0"/>
                  </a:moveTo>
                  <a:lnTo>
                    <a:pt x="2211020" y="0"/>
                  </a:lnTo>
                  <a:lnTo>
                    <a:pt x="2211020" y="332842"/>
                  </a:lnTo>
                  <a:lnTo>
                    <a:pt x="0" y="332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227" r="0" b="-7064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2211019" cy="342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07"/>
                </a:lnSpc>
              </a:pPr>
              <a:r>
                <a:rPr lang="en-US" sz="1339" b="true">
                  <a:solidFill>
                    <a:srgbClr val="9EDC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MODELING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309121" y="4970336"/>
            <a:ext cx="1868805" cy="684848"/>
            <a:chOff x="0" y="0"/>
            <a:chExt cx="2491740" cy="91313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491740" cy="913130"/>
            </a:xfrm>
            <a:custGeom>
              <a:avLst/>
              <a:gdLst/>
              <a:ahLst/>
              <a:cxnLst/>
              <a:rect r="r" b="b" t="t" l="l"/>
              <a:pathLst>
                <a:path h="913130" w="2491740">
                  <a:moveTo>
                    <a:pt x="0" y="152188"/>
                  </a:moveTo>
                  <a:cubicBezTo>
                    <a:pt x="0" y="68093"/>
                    <a:pt x="50800" y="0"/>
                    <a:pt x="113538" y="0"/>
                  </a:cubicBezTo>
                  <a:lnTo>
                    <a:pt x="2378202" y="0"/>
                  </a:lnTo>
                  <a:cubicBezTo>
                    <a:pt x="2440940" y="0"/>
                    <a:pt x="2491740" y="68093"/>
                    <a:pt x="2491740" y="152188"/>
                  </a:cubicBezTo>
                  <a:lnTo>
                    <a:pt x="2491740" y="760942"/>
                  </a:lnTo>
                  <a:cubicBezTo>
                    <a:pt x="2491740" y="845037"/>
                    <a:pt x="2440940" y="913130"/>
                    <a:pt x="2378202" y="913130"/>
                  </a:cubicBezTo>
                  <a:lnTo>
                    <a:pt x="113538" y="913130"/>
                  </a:lnTo>
                  <a:cubicBezTo>
                    <a:pt x="50800" y="913130"/>
                    <a:pt x="0" y="845037"/>
                    <a:pt x="0" y="760942"/>
                  </a:cubicBezTo>
                  <a:close/>
                </a:path>
              </a:pathLst>
            </a:custGeom>
            <a:solidFill>
              <a:srgbClr val="0B1F33"/>
            </a:solidFill>
            <a:ln w="17145" cap="sq">
              <a:solidFill>
                <a:srgbClr val="1769AA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5427421" y="5164355"/>
            <a:ext cx="1632204" cy="249632"/>
            <a:chOff x="0" y="0"/>
            <a:chExt cx="2176272" cy="33284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176272" cy="332842"/>
            </a:xfrm>
            <a:custGeom>
              <a:avLst/>
              <a:gdLst/>
              <a:ahLst/>
              <a:cxnLst/>
              <a:rect r="r" b="b" t="t" l="l"/>
              <a:pathLst>
                <a:path h="332842" w="2176272">
                  <a:moveTo>
                    <a:pt x="0" y="0"/>
                  </a:moveTo>
                  <a:lnTo>
                    <a:pt x="2176272" y="0"/>
                  </a:lnTo>
                  <a:lnTo>
                    <a:pt x="2176272" y="332842"/>
                  </a:lnTo>
                  <a:lnTo>
                    <a:pt x="0" y="332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193" r="0" b="-6861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2176272" cy="342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07"/>
                </a:lnSpc>
              </a:pPr>
              <a:r>
                <a:rPr lang="en-US" sz="1339" b="true">
                  <a:solidFill>
                    <a:srgbClr val="9EDC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DAX &amp; SQL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297941" y="4970336"/>
            <a:ext cx="2295373" cy="684848"/>
            <a:chOff x="0" y="0"/>
            <a:chExt cx="3060497" cy="91313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060446" cy="913130"/>
            </a:xfrm>
            <a:custGeom>
              <a:avLst/>
              <a:gdLst/>
              <a:ahLst/>
              <a:cxnLst/>
              <a:rect r="r" b="b" t="t" l="l"/>
              <a:pathLst>
                <a:path h="913130" w="3060446">
                  <a:moveTo>
                    <a:pt x="0" y="152188"/>
                  </a:moveTo>
                  <a:cubicBezTo>
                    <a:pt x="0" y="68093"/>
                    <a:pt x="50800" y="0"/>
                    <a:pt x="113538" y="0"/>
                  </a:cubicBezTo>
                  <a:lnTo>
                    <a:pt x="2946908" y="0"/>
                  </a:lnTo>
                  <a:cubicBezTo>
                    <a:pt x="3009646" y="0"/>
                    <a:pt x="3060446" y="68093"/>
                    <a:pt x="3060446" y="152188"/>
                  </a:cubicBezTo>
                  <a:lnTo>
                    <a:pt x="3060446" y="760942"/>
                  </a:lnTo>
                  <a:cubicBezTo>
                    <a:pt x="3060446" y="845037"/>
                    <a:pt x="3009646" y="913130"/>
                    <a:pt x="2946908" y="913130"/>
                  </a:cubicBezTo>
                  <a:lnTo>
                    <a:pt x="113538" y="913130"/>
                  </a:lnTo>
                  <a:cubicBezTo>
                    <a:pt x="50800" y="913130"/>
                    <a:pt x="0" y="845037"/>
                    <a:pt x="0" y="760942"/>
                  </a:cubicBezTo>
                  <a:close/>
                </a:path>
              </a:pathLst>
            </a:custGeom>
            <a:solidFill>
              <a:srgbClr val="0B1F33"/>
            </a:solidFill>
            <a:ln w="17145" cap="sq">
              <a:solidFill>
                <a:srgbClr val="1769AA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7416241" y="5177790"/>
            <a:ext cx="2058772" cy="249632"/>
            <a:chOff x="0" y="0"/>
            <a:chExt cx="2745029" cy="33284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745028" cy="332842"/>
            </a:xfrm>
            <a:custGeom>
              <a:avLst/>
              <a:gdLst/>
              <a:ahLst/>
              <a:cxnLst/>
              <a:rect r="r" b="b" t="t" l="l"/>
              <a:pathLst>
                <a:path h="332842" w="2745028">
                  <a:moveTo>
                    <a:pt x="0" y="0"/>
                  </a:moveTo>
                  <a:lnTo>
                    <a:pt x="2745028" y="0"/>
                  </a:lnTo>
                  <a:lnTo>
                    <a:pt x="2745028" y="332842"/>
                  </a:lnTo>
                  <a:lnTo>
                    <a:pt x="0" y="332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488" r="0" b="-101906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2745029" cy="342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07"/>
                </a:lnSpc>
              </a:pPr>
              <a:r>
                <a:rPr lang="en-US" sz="1339" b="true">
                  <a:solidFill>
                    <a:srgbClr val="9EDC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BUSINESS ANALYSIS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87552" y="6268212"/>
            <a:ext cx="8915400" cy="750139"/>
            <a:chOff x="0" y="0"/>
            <a:chExt cx="11887200" cy="100018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887200" cy="1000186"/>
            </a:xfrm>
            <a:custGeom>
              <a:avLst/>
              <a:gdLst/>
              <a:ahLst/>
              <a:cxnLst/>
              <a:rect r="r" b="b" t="t" l="l"/>
              <a:pathLst>
                <a:path h="1000186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1000186"/>
                  </a:lnTo>
                  <a:lnTo>
                    <a:pt x="0" y="10001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010" r="0" b="-168148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9525"/>
              <a:ext cx="11887200" cy="9906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From raw data to business insights — one integrated analytics workflow.</a:t>
              </a:r>
            </a:p>
          </p:txBody>
        </p:sp>
      </p:grpSp>
      <p:sp>
        <p:nvSpPr>
          <p:cNvPr name="AutoShape 111" id="111"/>
          <p:cNvSpPr/>
          <p:nvPr/>
        </p:nvSpPr>
        <p:spPr>
          <a:xfrm rot="8580">
            <a:off x="978017" y="7182421"/>
            <a:ext cx="7631449" cy="0"/>
          </a:xfrm>
          <a:prstGeom prst="line">
            <a:avLst/>
          </a:prstGeom>
          <a:ln cap="rnd" w="9525">
            <a:solidFill>
              <a:srgbClr val="1B3E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2" id="112"/>
          <p:cNvGrpSpPr/>
          <p:nvPr/>
        </p:nvGrpSpPr>
        <p:grpSpPr>
          <a:xfrm rot="0">
            <a:off x="987552" y="7498212"/>
            <a:ext cx="4201554" cy="415792"/>
            <a:chOff x="0" y="0"/>
            <a:chExt cx="5120640" cy="50674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120640" cy="506746"/>
            </a:xfrm>
            <a:custGeom>
              <a:avLst/>
              <a:gdLst/>
              <a:ahLst/>
              <a:cxnLst/>
              <a:rect r="r" b="b" t="t" l="l"/>
              <a:pathLst>
                <a:path h="50674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06746"/>
                  </a:lnTo>
                  <a:lnTo>
                    <a:pt x="0" y="5067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197" r="0" b="-136593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5120640" cy="506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9"/>
                </a:lnSpc>
              </a:pPr>
              <a:r>
                <a:rPr lang="en-US" sz="2224" spc="35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PROJECT PRESENTATION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87552" y="7941564"/>
            <a:ext cx="9121140" cy="466344"/>
            <a:chOff x="0" y="0"/>
            <a:chExt cx="12161520" cy="62179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2161520" cy="621792"/>
            </a:xfrm>
            <a:custGeom>
              <a:avLst/>
              <a:gdLst/>
              <a:ahLst/>
              <a:cxnLst/>
              <a:rect r="r" b="b" t="t" l="l"/>
              <a:pathLst>
                <a:path h="621792" w="12161520">
                  <a:moveTo>
                    <a:pt x="0" y="0"/>
                  </a:moveTo>
                  <a:lnTo>
                    <a:pt x="12161520" y="0"/>
                  </a:lnTo>
                  <a:lnTo>
                    <a:pt x="1216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104" r="0" b="-331104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121615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Data Cleaning  →  Modeling  →  Analysis  →  Visualization  →  Dashboard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57150" y="701802"/>
            <a:ext cx="1010412" cy="1010412"/>
            <a:chOff x="0" y="0"/>
            <a:chExt cx="1347216" cy="134721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673608" y="0"/>
              <a:ext cx="673608" cy="673608"/>
            </a:xfrm>
            <a:custGeom>
              <a:avLst/>
              <a:gdLst/>
              <a:ahLst/>
              <a:cxnLst/>
              <a:rect r="r" b="b" t="t" l="l"/>
              <a:pathLst>
                <a:path h="673608" w="673608">
                  <a:moveTo>
                    <a:pt x="0" y="0"/>
                  </a:moveTo>
                  <a:cubicBezTo>
                    <a:pt x="371983" y="0"/>
                    <a:pt x="673608" y="301625"/>
                    <a:pt x="673608" y="673608"/>
                  </a:cubicBezTo>
                  <a:lnTo>
                    <a:pt x="0" y="673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6607" t="0" r="-156607" b="-99999"/>
              </a:stretch>
            </a:blipFill>
            <a:ln w="22860" cap="sq">
              <a:solidFill>
                <a:srgbClr val="00C8FF"/>
              </a:solidFill>
              <a:prstDash val="solid"/>
              <a:miter/>
            </a:ln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673608" y="0"/>
              <a:ext cx="673608" cy="673608"/>
            </a:xfrm>
            <a:custGeom>
              <a:avLst/>
              <a:gdLst/>
              <a:ahLst/>
              <a:cxnLst/>
              <a:rect r="r" b="b" t="t" l="l"/>
              <a:pathLst>
                <a:path h="673608" w="673608">
                  <a:moveTo>
                    <a:pt x="0" y="0"/>
                  </a:moveTo>
                  <a:cubicBezTo>
                    <a:pt x="371983" y="0"/>
                    <a:pt x="673608" y="301625"/>
                    <a:pt x="673608" y="673608"/>
                  </a:cubicBezTo>
                </a:path>
              </a:pathLst>
            </a:custGeom>
            <a:blipFill>
              <a:blip r:embed="rId3">
                <a:alphaModFix amt="0"/>
              </a:blip>
              <a:stretch>
                <a:fillRect l="-256607" t="0" r="-156607" b="-99999"/>
              </a:stretch>
            </a:blipFill>
            <a:ln w="22860" cap="sq">
              <a:solidFill>
                <a:srgbClr val="00C8FF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17583912" y="10026396"/>
            <a:ext cx="1199998" cy="449999"/>
            <a:chOff x="0" y="0"/>
            <a:chExt cx="1599997" cy="599999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600000" cy="600000"/>
            </a:xfrm>
            <a:custGeom>
              <a:avLst/>
              <a:gdLst/>
              <a:ahLst/>
              <a:cxnLst/>
              <a:rect r="r" b="b" t="t" l="l"/>
              <a:pathLst>
                <a:path h="600000" w="1600000">
                  <a:moveTo>
                    <a:pt x="0" y="0"/>
                  </a:moveTo>
                  <a:lnTo>
                    <a:pt x="1600000" y="0"/>
                  </a:lnTo>
                  <a:lnTo>
                    <a:pt x="1600000" y="600000"/>
                  </a:lnTo>
                  <a:lnTo>
                    <a:pt x="0" y="6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59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1599997" cy="59999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93AFC7"/>
                  </a:solidFill>
                  <a:latin typeface="Aptos"/>
                  <a:ea typeface="Aptos"/>
                  <a:cs typeface="Aptos"/>
                  <a:sym typeface="Aptos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92397" y="-1147785"/>
            <a:ext cx="18480397" cy="11729207"/>
          </a:xfrm>
          <a:custGeom>
            <a:avLst/>
            <a:gdLst/>
            <a:ahLst/>
            <a:cxnLst/>
            <a:rect r="r" b="b" t="t" l="l"/>
            <a:pathLst>
              <a:path h="11729207" w="18480397">
                <a:moveTo>
                  <a:pt x="0" y="0"/>
                </a:moveTo>
                <a:lnTo>
                  <a:pt x="18480397" y="0"/>
                </a:lnTo>
                <a:lnTo>
                  <a:pt x="18480397" y="11729207"/>
                </a:lnTo>
                <a:lnTo>
                  <a:pt x="0" y="11729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77" t="-1087" r="-6777" b="0"/>
            </a:stretch>
          </a:blipFill>
        </p:spPr>
      </p:sp>
      <p:sp>
        <p:nvSpPr>
          <p:cNvPr name="AutoShape 4" id="4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64642" y="8972550"/>
            <a:ext cx="777240" cy="777240"/>
            <a:chOff x="0" y="0"/>
            <a:chExt cx="1036320" cy="1036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18160" y="0"/>
              <a:ext cx="518160" cy="518160"/>
            </a:xfrm>
            <a:custGeom>
              <a:avLst/>
              <a:gdLst/>
              <a:ahLst/>
              <a:cxnLst/>
              <a:rect r="r" b="b" t="t" l="l"/>
              <a:pathLst>
                <a:path h="518160" w="518160">
                  <a:moveTo>
                    <a:pt x="0" y="0"/>
                  </a:moveTo>
                  <a:cubicBezTo>
                    <a:pt x="286131" y="0"/>
                    <a:pt x="518160" y="232029"/>
                    <a:pt x="518160" y="518160"/>
                  </a:cubicBezTo>
                  <a:lnTo>
                    <a:pt x="0" y="518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6607" t="0" r="-156607" b="-100000"/>
              </a:stretch>
            </a:blipFill>
            <a:ln w="22860" cap="sq">
              <a:solidFill>
                <a:srgbClr val="42C8FF"/>
              </a:solidFill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18160" y="0"/>
              <a:ext cx="518160" cy="518160"/>
            </a:xfrm>
            <a:custGeom>
              <a:avLst/>
              <a:gdLst/>
              <a:ahLst/>
              <a:cxnLst/>
              <a:rect r="r" b="b" t="t" l="l"/>
              <a:pathLst>
                <a:path h="518160" w="518160">
                  <a:moveTo>
                    <a:pt x="0" y="0"/>
                  </a:moveTo>
                  <a:cubicBezTo>
                    <a:pt x="286131" y="0"/>
                    <a:pt x="518160" y="232029"/>
                    <a:pt x="518160" y="518160"/>
                  </a:cubicBezTo>
                </a:path>
              </a:pathLst>
            </a:custGeom>
            <a:blipFill>
              <a:blip r:embed="rId3">
                <a:alphaModFix amt="0"/>
              </a:blip>
              <a:stretch>
                <a:fillRect l="-256607" t="0" r="-156607" b="-100000"/>
              </a:stretch>
            </a:blipFill>
            <a:ln w="22860" cap="sq">
              <a:solidFill>
                <a:srgbClr val="42C8F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5967710" y="8972550"/>
            <a:ext cx="777240" cy="777240"/>
            <a:chOff x="0" y="0"/>
            <a:chExt cx="1036320" cy="1036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18160" y="0"/>
              <a:ext cx="518160" cy="518160"/>
            </a:xfrm>
            <a:custGeom>
              <a:avLst/>
              <a:gdLst/>
              <a:ahLst/>
              <a:cxnLst/>
              <a:rect r="r" b="b" t="t" l="l"/>
              <a:pathLst>
                <a:path h="518160" w="518160">
                  <a:moveTo>
                    <a:pt x="0" y="0"/>
                  </a:moveTo>
                  <a:cubicBezTo>
                    <a:pt x="286131" y="0"/>
                    <a:pt x="518160" y="232029"/>
                    <a:pt x="518160" y="518160"/>
                  </a:cubicBezTo>
                  <a:lnTo>
                    <a:pt x="0" y="518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6607" t="0" r="-156607" b="-100000"/>
              </a:stretch>
            </a:blipFill>
            <a:ln w="22860" cap="sq">
              <a:solidFill>
                <a:srgbClr val="42C8FF"/>
              </a:solidFill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18160" y="0"/>
              <a:ext cx="518160" cy="518160"/>
            </a:xfrm>
            <a:custGeom>
              <a:avLst/>
              <a:gdLst/>
              <a:ahLst/>
              <a:cxnLst/>
              <a:rect r="r" b="b" t="t" l="l"/>
              <a:pathLst>
                <a:path h="518160" w="518160">
                  <a:moveTo>
                    <a:pt x="0" y="0"/>
                  </a:moveTo>
                  <a:cubicBezTo>
                    <a:pt x="286131" y="0"/>
                    <a:pt x="518160" y="232029"/>
                    <a:pt x="518160" y="518160"/>
                  </a:cubicBezTo>
                </a:path>
              </a:pathLst>
            </a:custGeom>
            <a:blipFill>
              <a:blip r:embed="rId3">
                <a:alphaModFix amt="0"/>
              </a:blip>
              <a:stretch>
                <a:fillRect l="-256607" t="0" r="-156607" b="-100000"/>
              </a:stretch>
            </a:blipFill>
            <a:ln w="22860" cap="sq">
              <a:solidFill>
                <a:srgbClr val="42C8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01268" y="1714500"/>
            <a:ext cx="3086100" cy="61722"/>
            <a:chOff x="0" y="0"/>
            <a:chExt cx="4114800" cy="822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14800" cy="82296"/>
            </a:xfrm>
            <a:custGeom>
              <a:avLst/>
              <a:gdLst/>
              <a:ahLst/>
              <a:cxnLst/>
              <a:rect r="r" b="b" t="t" l="l"/>
              <a:pathLst>
                <a:path h="8229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76122" y="2731770"/>
            <a:ext cx="4206240" cy="5440680"/>
            <a:chOff x="0" y="0"/>
            <a:chExt cx="5608320" cy="7254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08320" cy="7254240"/>
            </a:xfrm>
            <a:custGeom>
              <a:avLst/>
              <a:gdLst/>
              <a:ahLst/>
              <a:cxnLst/>
              <a:rect r="r" b="b" t="t" l="l"/>
              <a:pathLst>
                <a:path h="7254240" w="5608320">
                  <a:moveTo>
                    <a:pt x="0" y="934720"/>
                  </a:moveTo>
                  <a:cubicBezTo>
                    <a:pt x="0" y="418465"/>
                    <a:pt x="418465" y="0"/>
                    <a:pt x="934720" y="0"/>
                  </a:cubicBezTo>
                  <a:lnTo>
                    <a:pt x="4673600" y="0"/>
                  </a:lnTo>
                  <a:cubicBezTo>
                    <a:pt x="5189855" y="0"/>
                    <a:pt x="5608320" y="418465"/>
                    <a:pt x="5608320" y="934720"/>
                  </a:cubicBezTo>
                  <a:lnTo>
                    <a:pt x="5608320" y="6319520"/>
                  </a:lnTo>
                  <a:cubicBezTo>
                    <a:pt x="5608320" y="6835775"/>
                    <a:pt x="5189855" y="7254240"/>
                    <a:pt x="4673600" y="7254240"/>
                  </a:cubicBezTo>
                  <a:lnTo>
                    <a:pt x="934720" y="7254240"/>
                  </a:lnTo>
                  <a:cubicBezTo>
                    <a:pt x="418465" y="7254240"/>
                    <a:pt x="0" y="6835775"/>
                    <a:pt x="0" y="6319520"/>
                  </a:cubicBezTo>
                  <a:close/>
                </a:path>
              </a:pathLst>
            </a:custGeom>
            <a:solidFill>
              <a:srgbClr val="0B1F33"/>
            </a:solidFill>
            <a:ln w="22860" cap="sq">
              <a:solidFill>
                <a:srgbClr val="1769A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2125980" y="3922776"/>
            <a:ext cx="1920240" cy="48006"/>
            <a:chOff x="0" y="0"/>
            <a:chExt cx="2560320" cy="640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0320" cy="64008"/>
            </a:xfrm>
            <a:custGeom>
              <a:avLst/>
              <a:gdLst/>
              <a:ahLst/>
              <a:cxnLst/>
              <a:rect r="r" b="b" t="t" l="l"/>
              <a:pathLst>
                <a:path h="6400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42C8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681662" y="2705290"/>
            <a:ext cx="5178171" cy="1502283"/>
            <a:chOff x="0" y="0"/>
            <a:chExt cx="6904228" cy="20030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04227" cy="2003044"/>
            </a:xfrm>
            <a:custGeom>
              <a:avLst/>
              <a:gdLst/>
              <a:ahLst/>
              <a:cxnLst/>
              <a:rect r="r" b="b" t="t" l="l"/>
              <a:pathLst>
                <a:path h="2003044" w="6904227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6570345" y="0"/>
                  </a:lnTo>
                  <a:cubicBezTo>
                    <a:pt x="6754749" y="0"/>
                    <a:pt x="6904227" y="149479"/>
                    <a:pt x="6904227" y="333883"/>
                  </a:cubicBezTo>
                  <a:lnTo>
                    <a:pt x="6904227" y="1669161"/>
                  </a:lnTo>
                  <a:cubicBezTo>
                    <a:pt x="6904227" y="1853565"/>
                    <a:pt x="6754749" y="2003044"/>
                    <a:pt x="6570345" y="2003044"/>
                  </a:cubicBezTo>
                  <a:lnTo>
                    <a:pt x="333883" y="2003044"/>
                  </a:lnTo>
                  <a:cubicBezTo>
                    <a:pt x="149479" y="2003044"/>
                    <a:pt x="0" y="1853565"/>
                    <a:pt x="0" y="1669161"/>
                  </a:cubicBezTo>
                  <a:close/>
                </a:path>
              </a:pathLst>
            </a:custGeom>
            <a:solidFill>
              <a:srgbClr val="0B1F33"/>
            </a:solidFill>
            <a:ln w="20955" cap="sq">
              <a:solidFill>
                <a:srgbClr val="1769A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939028" y="3058668"/>
            <a:ext cx="658368" cy="658368"/>
            <a:chOff x="0" y="0"/>
            <a:chExt cx="877824" cy="8778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77824" cy="877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7152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228232" y="2705290"/>
            <a:ext cx="4890135" cy="1502283"/>
            <a:chOff x="0" y="0"/>
            <a:chExt cx="6520180" cy="20030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20180" cy="2003044"/>
            </a:xfrm>
            <a:custGeom>
              <a:avLst/>
              <a:gdLst/>
              <a:ahLst/>
              <a:cxnLst/>
              <a:rect r="r" b="b" t="t" l="l"/>
              <a:pathLst>
                <a:path h="2003044" w="6520180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6186297" y="0"/>
                  </a:lnTo>
                  <a:cubicBezTo>
                    <a:pt x="6370701" y="0"/>
                    <a:pt x="6520180" y="149479"/>
                    <a:pt x="6520180" y="333883"/>
                  </a:cubicBezTo>
                  <a:lnTo>
                    <a:pt x="6520180" y="1669161"/>
                  </a:lnTo>
                  <a:cubicBezTo>
                    <a:pt x="6520180" y="1853565"/>
                    <a:pt x="6370701" y="2003044"/>
                    <a:pt x="6186297" y="2003044"/>
                  </a:cubicBezTo>
                  <a:lnTo>
                    <a:pt x="333883" y="2003044"/>
                  </a:lnTo>
                  <a:cubicBezTo>
                    <a:pt x="149479" y="2003044"/>
                    <a:pt x="0" y="1853565"/>
                    <a:pt x="0" y="1669161"/>
                  </a:cubicBezTo>
                  <a:close/>
                </a:path>
              </a:pathLst>
            </a:custGeom>
            <a:solidFill>
              <a:srgbClr val="0B1F33"/>
            </a:solidFill>
            <a:ln w="20955" cap="sq">
              <a:solidFill>
                <a:srgbClr val="1769A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387661" y="3072660"/>
            <a:ext cx="658368" cy="658368"/>
            <a:chOff x="0" y="0"/>
            <a:chExt cx="877824" cy="8778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877824" cy="877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681662" y="4570666"/>
            <a:ext cx="5178171" cy="1502283"/>
            <a:chOff x="0" y="0"/>
            <a:chExt cx="6904228" cy="20030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04227" cy="2003044"/>
            </a:xfrm>
            <a:custGeom>
              <a:avLst/>
              <a:gdLst/>
              <a:ahLst/>
              <a:cxnLst/>
              <a:rect r="r" b="b" t="t" l="l"/>
              <a:pathLst>
                <a:path h="2003044" w="6904227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6570345" y="0"/>
                  </a:lnTo>
                  <a:cubicBezTo>
                    <a:pt x="6754749" y="0"/>
                    <a:pt x="6904227" y="149479"/>
                    <a:pt x="6904227" y="333883"/>
                  </a:cubicBezTo>
                  <a:lnTo>
                    <a:pt x="6904227" y="1669161"/>
                  </a:lnTo>
                  <a:cubicBezTo>
                    <a:pt x="6904227" y="1853565"/>
                    <a:pt x="6754749" y="2003044"/>
                    <a:pt x="6570345" y="2003044"/>
                  </a:cubicBezTo>
                  <a:lnTo>
                    <a:pt x="333883" y="2003044"/>
                  </a:lnTo>
                  <a:cubicBezTo>
                    <a:pt x="149479" y="2003044"/>
                    <a:pt x="0" y="1853565"/>
                    <a:pt x="0" y="1669161"/>
                  </a:cubicBezTo>
                  <a:close/>
                </a:path>
              </a:pathLst>
            </a:custGeom>
            <a:solidFill>
              <a:srgbClr val="0B1F33"/>
            </a:solidFill>
            <a:ln w="20955" cap="sq">
              <a:solidFill>
                <a:srgbClr val="1769AA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939028" y="4924044"/>
            <a:ext cx="658368" cy="658368"/>
            <a:chOff x="0" y="0"/>
            <a:chExt cx="877824" cy="87782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877824" cy="877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7152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228232" y="4529518"/>
            <a:ext cx="4890135" cy="1502283"/>
            <a:chOff x="0" y="0"/>
            <a:chExt cx="6520180" cy="20030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20180" cy="2003044"/>
            </a:xfrm>
            <a:custGeom>
              <a:avLst/>
              <a:gdLst/>
              <a:ahLst/>
              <a:cxnLst/>
              <a:rect r="r" b="b" t="t" l="l"/>
              <a:pathLst>
                <a:path h="2003044" w="6520180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6186297" y="0"/>
                  </a:lnTo>
                  <a:cubicBezTo>
                    <a:pt x="6370701" y="0"/>
                    <a:pt x="6520180" y="149479"/>
                    <a:pt x="6520180" y="333883"/>
                  </a:cubicBezTo>
                  <a:lnTo>
                    <a:pt x="6520180" y="1669161"/>
                  </a:lnTo>
                  <a:cubicBezTo>
                    <a:pt x="6520180" y="1853565"/>
                    <a:pt x="6370701" y="2003044"/>
                    <a:pt x="6186297" y="2003044"/>
                  </a:cubicBezTo>
                  <a:lnTo>
                    <a:pt x="333883" y="2003044"/>
                  </a:lnTo>
                  <a:cubicBezTo>
                    <a:pt x="149479" y="2003044"/>
                    <a:pt x="0" y="1853565"/>
                    <a:pt x="0" y="1669161"/>
                  </a:cubicBezTo>
                  <a:close/>
                </a:path>
              </a:pathLst>
            </a:custGeom>
            <a:solidFill>
              <a:srgbClr val="0B1F33"/>
            </a:solidFill>
            <a:ln w="20955" cap="sq">
              <a:solidFill>
                <a:srgbClr val="1769AA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6520180" cy="2003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Anuradha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387661" y="4924044"/>
            <a:ext cx="658368" cy="658368"/>
            <a:chOff x="0" y="0"/>
            <a:chExt cx="877824" cy="87782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877824" cy="877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404288" y="6463475"/>
            <a:ext cx="4890135" cy="1502283"/>
            <a:chOff x="0" y="0"/>
            <a:chExt cx="6520180" cy="200304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520180" cy="2003044"/>
            </a:xfrm>
            <a:custGeom>
              <a:avLst/>
              <a:gdLst/>
              <a:ahLst/>
              <a:cxnLst/>
              <a:rect r="r" b="b" t="t" l="l"/>
              <a:pathLst>
                <a:path h="2003044" w="6520180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6186297" y="0"/>
                  </a:lnTo>
                  <a:cubicBezTo>
                    <a:pt x="6370701" y="0"/>
                    <a:pt x="6520180" y="149479"/>
                    <a:pt x="6520180" y="333883"/>
                  </a:cubicBezTo>
                  <a:lnTo>
                    <a:pt x="6520180" y="1669161"/>
                  </a:lnTo>
                  <a:cubicBezTo>
                    <a:pt x="6520180" y="1853565"/>
                    <a:pt x="6370701" y="2003044"/>
                    <a:pt x="6186297" y="2003044"/>
                  </a:cubicBezTo>
                  <a:lnTo>
                    <a:pt x="333883" y="2003044"/>
                  </a:lnTo>
                  <a:cubicBezTo>
                    <a:pt x="149479" y="2003044"/>
                    <a:pt x="0" y="1853565"/>
                    <a:pt x="0" y="1669161"/>
                  </a:cubicBezTo>
                  <a:close/>
                </a:path>
              </a:pathLst>
            </a:custGeom>
            <a:solidFill>
              <a:srgbClr val="0B1F33"/>
            </a:solidFill>
            <a:ln w="20955" cap="sq">
              <a:solidFill>
                <a:srgbClr val="1769AA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6520180" cy="2003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Aditi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720661" y="6885432"/>
            <a:ext cx="658368" cy="658368"/>
            <a:chOff x="0" y="0"/>
            <a:chExt cx="877824" cy="8778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877824" cy="877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78992" y="800100"/>
            <a:ext cx="6982739" cy="739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42C8FF"/>
                </a:solidFill>
                <a:latin typeface="Aptos Bold"/>
                <a:ea typeface="Aptos Bold"/>
                <a:cs typeface="Aptos Bold"/>
                <a:sym typeface="Aptos Bold"/>
              </a:rPr>
              <a:t>TEAM MEMBERS – GROUP 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06424" y="1938528"/>
            <a:ext cx="941832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8C7D9"/>
                </a:solidFill>
                <a:latin typeface="Aptos"/>
                <a:ea typeface="Aptos"/>
                <a:cs typeface="Aptos"/>
                <a:sym typeface="Aptos"/>
              </a:rPr>
              <a:t>Adventure Works Sales Analytics Project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63040" y="3310128"/>
            <a:ext cx="324612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7FBFF"/>
                </a:solidFill>
                <a:latin typeface="Aptos Bold"/>
                <a:ea typeface="Aptos Bold"/>
                <a:cs typeface="Aptos Bold"/>
                <a:sym typeface="Aptos Bold"/>
              </a:rPr>
              <a:t>PROJECT TEAM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63040" y="4407408"/>
            <a:ext cx="3246120" cy="2788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B8C7D9"/>
                </a:solidFill>
                <a:latin typeface="Aptos"/>
                <a:ea typeface="Aptos"/>
                <a:cs typeface="Aptos"/>
                <a:sym typeface="Aptos"/>
              </a:rPr>
              <a:t>Excel  •  SQL</a:t>
            </a:r>
          </a:p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B8C7D9"/>
                </a:solidFill>
                <a:latin typeface="Aptos"/>
                <a:ea typeface="Aptos"/>
                <a:cs typeface="Aptos"/>
                <a:sym typeface="Aptos"/>
              </a:rPr>
              <a:t>Power BI  •  Tableau</a:t>
            </a:r>
          </a:p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B8C7D9"/>
                </a:solidFill>
                <a:latin typeface="Aptos"/>
                <a:ea typeface="Aptos"/>
                <a:cs typeface="Aptos"/>
                <a:sym typeface="Aptos"/>
              </a:rPr>
              <a:t>Data Preparation</a:t>
            </a:r>
          </a:p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B8C7D9"/>
                </a:solidFill>
                <a:latin typeface="Aptos"/>
                <a:ea typeface="Aptos"/>
                <a:cs typeface="Aptos"/>
                <a:sym typeface="Aptos"/>
              </a:rPr>
              <a:t>Data Modeling</a:t>
            </a:r>
          </a:p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B8C7D9"/>
                </a:solidFill>
                <a:latin typeface="Aptos"/>
                <a:ea typeface="Aptos"/>
                <a:cs typeface="Aptos"/>
                <a:sym typeface="Aptos"/>
              </a:rPr>
              <a:t>Analysis  •  Visualization</a:t>
            </a:r>
          </a:p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B8C7D9"/>
                </a:solidFill>
                <a:latin typeface="Aptos"/>
                <a:ea typeface="Aptos"/>
                <a:cs typeface="Aptos"/>
                <a:sym typeface="Aptos"/>
              </a:rPr>
              <a:t>Dashboard &amp; Insights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768332" y="3218317"/>
            <a:ext cx="1339272" cy="39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7FBFF"/>
                </a:solidFill>
                <a:latin typeface="Aptos Bold"/>
                <a:ea typeface="Aptos Bold"/>
                <a:cs typeface="Aptos Bold"/>
                <a:sym typeface="Aptos Bold"/>
              </a:rPr>
              <a:t> PRAMOD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216936" y="3204315"/>
            <a:ext cx="1325613" cy="39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7FBFF"/>
                </a:solidFill>
                <a:latin typeface="Aptos Bold"/>
                <a:ea typeface="Aptos Bold"/>
                <a:cs typeface="Aptos Bold"/>
                <a:sym typeface="Aptos Bold"/>
              </a:rPr>
              <a:t>Pratiksha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743281" y="5039954"/>
            <a:ext cx="753532" cy="39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7FBFF"/>
                </a:solidFill>
                <a:latin typeface="Aptos Bold"/>
                <a:ea typeface="Aptos Bold"/>
                <a:cs typeface="Aptos Bold"/>
                <a:sym typeface="Aptos Bold"/>
              </a:rPr>
              <a:t>Ruby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06424" y="8481060"/>
            <a:ext cx="8321040" cy="304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9"/>
              </a:lnSpc>
            </a:pPr>
            <a:r>
              <a:rPr lang="en-US" sz="204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Excel  •  SQL  •  Power BI  •  Tableau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070580" y="8481060"/>
            <a:ext cx="29718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B8C7D9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4064" y="-260049"/>
            <a:ext cx="20115711" cy="10259013"/>
          </a:xfrm>
          <a:custGeom>
            <a:avLst/>
            <a:gdLst/>
            <a:ahLst/>
            <a:cxnLst/>
            <a:rect r="r" b="b" t="t" l="l"/>
            <a:pathLst>
              <a:path h="10259013" w="20115711">
                <a:moveTo>
                  <a:pt x="0" y="0"/>
                </a:moveTo>
                <a:lnTo>
                  <a:pt x="20115711" y="0"/>
                </a:lnTo>
                <a:lnTo>
                  <a:pt x="20115711" y="10259013"/>
                </a:lnTo>
                <a:lnTo>
                  <a:pt x="0" y="10259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54114" y="867346"/>
            <a:ext cx="116967" cy="8867775"/>
            <a:chOff x="0" y="0"/>
            <a:chExt cx="155956" cy="11823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956" cy="11823700"/>
            </a:xfrm>
            <a:custGeom>
              <a:avLst/>
              <a:gdLst/>
              <a:ahLst/>
              <a:cxnLst/>
              <a:rect r="r" b="b" t="t" l="l"/>
              <a:pathLst>
                <a:path h="11823700" w="155956">
                  <a:moveTo>
                    <a:pt x="0" y="0"/>
                  </a:moveTo>
                  <a:lnTo>
                    <a:pt x="155956" y="0"/>
                  </a:lnTo>
                  <a:lnTo>
                    <a:pt x="155956" y="11823700"/>
                  </a:lnTo>
                  <a:lnTo>
                    <a:pt x="0" y="11823700"/>
                  </a:lnTo>
                  <a:close/>
                </a:path>
              </a:pathLst>
            </a:custGeom>
            <a:solidFill>
              <a:srgbClr val="00C9FF"/>
            </a:solidFill>
            <a:ln w="20955" cap="sq">
              <a:solidFill>
                <a:srgbClr val="00C9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81062" y="1841183"/>
            <a:ext cx="16480155" cy="1557147"/>
            <a:chOff x="0" y="0"/>
            <a:chExt cx="21973540" cy="20761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3539" cy="2076196"/>
            </a:xfrm>
            <a:custGeom>
              <a:avLst/>
              <a:gdLst/>
              <a:ahLst/>
              <a:cxnLst/>
              <a:rect r="r" b="b" t="t" l="l"/>
              <a:pathLst>
                <a:path h="2076196" w="21973539">
                  <a:moveTo>
                    <a:pt x="0" y="166116"/>
                  </a:moveTo>
                  <a:cubicBezTo>
                    <a:pt x="0" y="74422"/>
                    <a:pt x="74422" y="0"/>
                    <a:pt x="166116" y="0"/>
                  </a:cubicBezTo>
                  <a:lnTo>
                    <a:pt x="21807424" y="0"/>
                  </a:lnTo>
                  <a:cubicBezTo>
                    <a:pt x="21899118" y="0"/>
                    <a:pt x="21973539" y="74422"/>
                    <a:pt x="21973539" y="166116"/>
                  </a:cubicBezTo>
                  <a:lnTo>
                    <a:pt x="21973539" y="1910080"/>
                  </a:lnTo>
                  <a:cubicBezTo>
                    <a:pt x="21973539" y="2001774"/>
                    <a:pt x="21899118" y="2076196"/>
                    <a:pt x="21807424" y="2076196"/>
                  </a:cubicBezTo>
                  <a:lnTo>
                    <a:pt x="166116" y="2076196"/>
                  </a:lnTo>
                  <a:cubicBezTo>
                    <a:pt x="74422" y="2076196"/>
                    <a:pt x="0" y="2001774"/>
                    <a:pt x="0" y="1910080"/>
                  </a:cubicBezTo>
                  <a:close/>
                </a:path>
              </a:pathLst>
            </a:custGeom>
            <a:solidFill>
              <a:srgbClr val="0D283E">
                <a:alpha val="80000"/>
              </a:srgbClr>
            </a:solidFill>
            <a:ln w="20955" cap="sq">
              <a:solidFill>
                <a:srgbClr val="1C91E7">
                  <a:alpha val="80000"/>
                </a:srgbClr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81062" y="3761422"/>
            <a:ext cx="3834003" cy="2832735"/>
            <a:chOff x="0" y="0"/>
            <a:chExt cx="5112004" cy="37769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12004" cy="3776980"/>
            </a:xfrm>
            <a:custGeom>
              <a:avLst/>
              <a:gdLst/>
              <a:ahLst/>
              <a:cxnLst/>
              <a:rect r="r" b="b" t="t" l="l"/>
              <a:pathLst>
                <a:path h="3776980" w="5112004">
                  <a:moveTo>
                    <a:pt x="0" y="302133"/>
                  </a:moveTo>
                  <a:cubicBezTo>
                    <a:pt x="0" y="135255"/>
                    <a:pt x="135255" y="0"/>
                    <a:pt x="302133" y="0"/>
                  </a:cubicBezTo>
                  <a:lnTo>
                    <a:pt x="4809871" y="0"/>
                  </a:lnTo>
                  <a:cubicBezTo>
                    <a:pt x="4976749" y="0"/>
                    <a:pt x="5112004" y="135255"/>
                    <a:pt x="5112004" y="302133"/>
                  </a:cubicBezTo>
                  <a:lnTo>
                    <a:pt x="5112004" y="3474847"/>
                  </a:lnTo>
                  <a:cubicBezTo>
                    <a:pt x="5112004" y="3641725"/>
                    <a:pt x="4976749" y="3776980"/>
                    <a:pt x="4809871" y="3776980"/>
                  </a:cubicBezTo>
                  <a:lnTo>
                    <a:pt x="302133" y="3776980"/>
                  </a:lnTo>
                  <a:cubicBezTo>
                    <a:pt x="135255" y="3776980"/>
                    <a:pt x="0" y="3641725"/>
                    <a:pt x="0" y="3474847"/>
                  </a:cubicBezTo>
                  <a:close/>
                </a:path>
              </a:pathLst>
            </a:custGeom>
            <a:solidFill>
              <a:srgbClr val="0D283E">
                <a:alpha val="80000"/>
              </a:srgbClr>
            </a:solidFill>
            <a:ln w="20955" cap="sq">
              <a:solidFill>
                <a:srgbClr val="1380BE">
                  <a:alpha val="80000"/>
                </a:srgbClr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81062" y="3761422"/>
            <a:ext cx="3834003" cy="130683"/>
            <a:chOff x="0" y="0"/>
            <a:chExt cx="5112004" cy="1742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12004" cy="174244"/>
            </a:xfrm>
            <a:custGeom>
              <a:avLst/>
              <a:gdLst/>
              <a:ahLst/>
              <a:cxnLst/>
              <a:rect r="r" b="b" t="t" l="l"/>
              <a:pathLst>
                <a:path h="174244" w="5112004">
                  <a:moveTo>
                    <a:pt x="0" y="0"/>
                  </a:moveTo>
                  <a:lnTo>
                    <a:pt x="5112004" y="0"/>
                  </a:lnTo>
                  <a:lnTo>
                    <a:pt x="5112004" y="174244"/>
                  </a:lnTo>
                  <a:lnTo>
                    <a:pt x="0" y="17424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091875" y="3761422"/>
            <a:ext cx="3834003" cy="2832735"/>
            <a:chOff x="0" y="0"/>
            <a:chExt cx="5112004" cy="37769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12004" cy="3776980"/>
            </a:xfrm>
            <a:custGeom>
              <a:avLst/>
              <a:gdLst/>
              <a:ahLst/>
              <a:cxnLst/>
              <a:rect r="r" b="b" t="t" l="l"/>
              <a:pathLst>
                <a:path h="3776980" w="5112004">
                  <a:moveTo>
                    <a:pt x="0" y="302133"/>
                  </a:moveTo>
                  <a:cubicBezTo>
                    <a:pt x="0" y="135255"/>
                    <a:pt x="135255" y="0"/>
                    <a:pt x="302133" y="0"/>
                  </a:cubicBezTo>
                  <a:lnTo>
                    <a:pt x="4809871" y="0"/>
                  </a:lnTo>
                  <a:cubicBezTo>
                    <a:pt x="4976749" y="0"/>
                    <a:pt x="5112004" y="135255"/>
                    <a:pt x="5112004" y="302133"/>
                  </a:cubicBezTo>
                  <a:lnTo>
                    <a:pt x="5112004" y="3474847"/>
                  </a:lnTo>
                  <a:cubicBezTo>
                    <a:pt x="5112004" y="3641725"/>
                    <a:pt x="4976749" y="3776980"/>
                    <a:pt x="4809871" y="3776980"/>
                  </a:cubicBezTo>
                  <a:lnTo>
                    <a:pt x="302133" y="3776980"/>
                  </a:lnTo>
                  <a:cubicBezTo>
                    <a:pt x="135255" y="3776980"/>
                    <a:pt x="0" y="3641725"/>
                    <a:pt x="0" y="3474847"/>
                  </a:cubicBezTo>
                  <a:close/>
                </a:path>
              </a:pathLst>
            </a:custGeom>
            <a:solidFill>
              <a:srgbClr val="0D283E">
                <a:alpha val="82745"/>
              </a:srgbClr>
            </a:solidFill>
            <a:ln w="20955" cap="sq">
              <a:solidFill>
                <a:srgbClr val="1380BE">
                  <a:alpha val="82745"/>
                </a:srgbClr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091875" y="3761422"/>
            <a:ext cx="3834003" cy="130683"/>
            <a:chOff x="0" y="0"/>
            <a:chExt cx="5112004" cy="1742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12004" cy="174244"/>
            </a:xfrm>
            <a:custGeom>
              <a:avLst/>
              <a:gdLst/>
              <a:ahLst/>
              <a:cxnLst/>
              <a:rect r="r" b="b" t="t" l="l"/>
              <a:pathLst>
                <a:path h="174244" w="5112004">
                  <a:moveTo>
                    <a:pt x="0" y="0"/>
                  </a:moveTo>
                  <a:lnTo>
                    <a:pt x="5112004" y="0"/>
                  </a:lnTo>
                  <a:lnTo>
                    <a:pt x="5112004" y="174244"/>
                  </a:lnTo>
                  <a:lnTo>
                    <a:pt x="0" y="17424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302686" y="3761422"/>
            <a:ext cx="3834003" cy="2832735"/>
            <a:chOff x="0" y="0"/>
            <a:chExt cx="5112004" cy="37769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12004" cy="3776980"/>
            </a:xfrm>
            <a:custGeom>
              <a:avLst/>
              <a:gdLst/>
              <a:ahLst/>
              <a:cxnLst/>
              <a:rect r="r" b="b" t="t" l="l"/>
              <a:pathLst>
                <a:path h="3776980" w="5112004">
                  <a:moveTo>
                    <a:pt x="0" y="302133"/>
                  </a:moveTo>
                  <a:cubicBezTo>
                    <a:pt x="0" y="135255"/>
                    <a:pt x="135255" y="0"/>
                    <a:pt x="302133" y="0"/>
                  </a:cubicBezTo>
                  <a:lnTo>
                    <a:pt x="4809871" y="0"/>
                  </a:lnTo>
                  <a:cubicBezTo>
                    <a:pt x="4976749" y="0"/>
                    <a:pt x="5112004" y="135255"/>
                    <a:pt x="5112004" y="302133"/>
                  </a:cubicBezTo>
                  <a:lnTo>
                    <a:pt x="5112004" y="3474847"/>
                  </a:lnTo>
                  <a:cubicBezTo>
                    <a:pt x="5112004" y="3641725"/>
                    <a:pt x="4976749" y="3776980"/>
                    <a:pt x="4809871" y="3776980"/>
                  </a:cubicBezTo>
                  <a:lnTo>
                    <a:pt x="302133" y="3776980"/>
                  </a:lnTo>
                  <a:cubicBezTo>
                    <a:pt x="135255" y="3776980"/>
                    <a:pt x="0" y="3641725"/>
                    <a:pt x="0" y="3474847"/>
                  </a:cubicBezTo>
                  <a:close/>
                </a:path>
              </a:pathLst>
            </a:custGeom>
            <a:solidFill>
              <a:srgbClr val="0D283E">
                <a:alpha val="80000"/>
              </a:srgbClr>
            </a:solidFill>
            <a:ln w="20955" cap="sq">
              <a:solidFill>
                <a:srgbClr val="1380BE">
                  <a:alpha val="80000"/>
                </a:srgbClr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302686" y="3761422"/>
            <a:ext cx="3834003" cy="130683"/>
            <a:chOff x="0" y="0"/>
            <a:chExt cx="5112004" cy="1742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12004" cy="174244"/>
            </a:xfrm>
            <a:custGeom>
              <a:avLst/>
              <a:gdLst/>
              <a:ahLst/>
              <a:cxnLst/>
              <a:rect r="r" b="b" t="t" l="l"/>
              <a:pathLst>
                <a:path h="174244" w="5112004">
                  <a:moveTo>
                    <a:pt x="0" y="0"/>
                  </a:moveTo>
                  <a:lnTo>
                    <a:pt x="5112004" y="0"/>
                  </a:lnTo>
                  <a:lnTo>
                    <a:pt x="5112004" y="174244"/>
                  </a:lnTo>
                  <a:lnTo>
                    <a:pt x="0" y="17424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513498" y="3761422"/>
            <a:ext cx="3834003" cy="2832735"/>
            <a:chOff x="0" y="0"/>
            <a:chExt cx="5112004" cy="37769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12004" cy="3776980"/>
            </a:xfrm>
            <a:custGeom>
              <a:avLst/>
              <a:gdLst/>
              <a:ahLst/>
              <a:cxnLst/>
              <a:rect r="r" b="b" t="t" l="l"/>
              <a:pathLst>
                <a:path h="3776980" w="5112004">
                  <a:moveTo>
                    <a:pt x="0" y="302133"/>
                  </a:moveTo>
                  <a:cubicBezTo>
                    <a:pt x="0" y="135255"/>
                    <a:pt x="135255" y="0"/>
                    <a:pt x="302133" y="0"/>
                  </a:cubicBezTo>
                  <a:lnTo>
                    <a:pt x="4809871" y="0"/>
                  </a:lnTo>
                  <a:cubicBezTo>
                    <a:pt x="4976749" y="0"/>
                    <a:pt x="5112004" y="135255"/>
                    <a:pt x="5112004" y="302133"/>
                  </a:cubicBezTo>
                  <a:lnTo>
                    <a:pt x="5112004" y="3474847"/>
                  </a:lnTo>
                  <a:cubicBezTo>
                    <a:pt x="5112004" y="3641725"/>
                    <a:pt x="4976749" y="3776980"/>
                    <a:pt x="4809871" y="3776980"/>
                  </a:cubicBezTo>
                  <a:lnTo>
                    <a:pt x="302133" y="3776980"/>
                  </a:lnTo>
                  <a:cubicBezTo>
                    <a:pt x="135255" y="3776980"/>
                    <a:pt x="0" y="3641725"/>
                    <a:pt x="0" y="3474847"/>
                  </a:cubicBezTo>
                  <a:close/>
                </a:path>
              </a:pathLst>
            </a:custGeom>
            <a:solidFill>
              <a:srgbClr val="0D283E">
                <a:alpha val="80000"/>
              </a:srgbClr>
            </a:solidFill>
            <a:ln w="20955" cap="sq">
              <a:solidFill>
                <a:srgbClr val="00B0F0">
                  <a:alpha val="80000"/>
                </a:srgbClr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513498" y="3761422"/>
            <a:ext cx="3834003" cy="130683"/>
            <a:chOff x="0" y="0"/>
            <a:chExt cx="5112004" cy="1742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12004" cy="174244"/>
            </a:xfrm>
            <a:custGeom>
              <a:avLst/>
              <a:gdLst/>
              <a:ahLst/>
              <a:cxnLst/>
              <a:rect r="r" b="b" t="t" l="l"/>
              <a:pathLst>
                <a:path h="174244" w="5112004">
                  <a:moveTo>
                    <a:pt x="0" y="0"/>
                  </a:moveTo>
                  <a:lnTo>
                    <a:pt x="5112004" y="0"/>
                  </a:lnTo>
                  <a:lnTo>
                    <a:pt x="5112004" y="174244"/>
                  </a:lnTo>
                  <a:lnTo>
                    <a:pt x="0" y="17424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1CA57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81062" y="6902386"/>
            <a:ext cx="16480155" cy="775335"/>
            <a:chOff x="0" y="0"/>
            <a:chExt cx="21973540" cy="10337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73539" cy="1033780"/>
            </a:xfrm>
            <a:custGeom>
              <a:avLst/>
              <a:gdLst/>
              <a:ahLst/>
              <a:cxnLst/>
              <a:rect r="r" b="b" t="t" l="l"/>
              <a:pathLst>
                <a:path h="1033780" w="21973539">
                  <a:moveTo>
                    <a:pt x="0" y="82677"/>
                  </a:moveTo>
                  <a:cubicBezTo>
                    <a:pt x="0" y="37084"/>
                    <a:pt x="37084" y="0"/>
                    <a:pt x="82677" y="0"/>
                  </a:cubicBezTo>
                  <a:lnTo>
                    <a:pt x="21890862" y="0"/>
                  </a:lnTo>
                  <a:cubicBezTo>
                    <a:pt x="21936582" y="0"/>
                    <a:pt x="21973539" y="37084"/>
                    <a:pt x="21973539" y="82677"/>
                  </a:cubicBezTo>
                  <a:lnTo>
                    <a:pt x="21973539" y="951103"/>
                  </a:lnTo>
                  <a:cubicBezTo>
                    <a:pt x="21973539" y="996823"/>
                    <a:pt x="21936455" y="1033780"/>
                    <a:pt x="21890862" y="1033780"/>
                  </a:cubicBezTo>
                  <a:lnTo>
                    <a:pt x="82677" y="1033780"/>
                  </a:lnTo>
                  <a:cubicBezTo>
                    <a:pt x="37084" y="1033780"/>
                    <a:pt x="0" y="996696"/>
                    <a:pt x="0" y="951103"/>
                  </a:cubicBezTo>
                  <a:close/>
                </a:path>
              </a:pathLst>
            </a:custGeom>
            <a:solidFill>
              <a:srgbClr val="0C2438">
                <a:alpha val="80000"/>
              </a:srgbClr>
            </a:solidFill>
            <a:ln w="20955" cap="sq">
              <a:solidFill>
                <a:srgbClr val="1380BE">
                  <a:alpha val="80000"/>
                </a:srgbClr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81062" y="8027099"/>
            <a:ext cx="3559683" cy="1227963"/>
            <a:chOff x="0" y="0"/>
            <a:chExt cx="4746244" cy="16372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46244" cy="1637284"/>
            </a:xfrm>
            <a:custGeom>
              <a:avLst/>
              <a:gdLst/>
              <a:ahLst/>
              <a:cxnLst/>
              <a:rect r="r" b="b" t="t" l="l"/>
              <a:pathLst>
                <a:path h="1637284" w="4746244">
                  <a:moveTo>
                    <a:pt x="0" y="130937"/>
                  </a:moveTo>
                  <a:cubicBezTo>
                    <a:pt x="0" y="58674"/>
                    <a:pt x="58674" y="0"/>
                    <a:pt x="130937" y="0"/>
                  </a:cubicBezTo>
                  <a:lnTo>
                    <a:pt x="4615307" y="0"/>
                  </a:lnTo>
                  <a:cubicBezTo>
                    <a:pt x="4687697" y="0"/>
                    <a:pt x="4746244" y="58674"/>
                    <a:pt x="4746244" y="130937"/>
                  </a:cubicBezTo>
                  <a:lnTo>
                    <a:pt x="4746244" y="1506347"/>
                  </a:lnTo>
                  <a:cubicBezTo>
                    <a:pt x="4746244" y="1578737"/>
                    <a:pt x="4687570" y="1637284"/>
                    <a:pt x="4615307" y="1637284"/>
                  </a:cubicBezTo>
                  <a:lnTo>
                    <a:pt x="130937" y="1637284"/>
                  </a:lnTo>
                  <a:cubicBezTo>
                    <a:pt x="58674" y="1637284"/>
                    <a:pt x="0" y="1578610"/>
                    <a:pt x="0" y="1506347"/>
                  </a:cubicBezTo>
                  <a:close/>
                </a:path>
              </a:pathLst>
            </a:custGeom>
            <a:solidFill>
              <a:srgbClr val="0D283E">
                <a:alpha val="80000"/>
              </a:srgbClr>
            </a:solidFill>
            <a:ln w="20955" cap="sq">
              <a:solidFill>
                <a:srgbClr val="1380BE">
                  <a:alpha val="80000"/>
                </a:srgbClr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4954714" y="8027099"/>
            <a:ext cx="2462403" cy="1227963"/>
            <a:chOff x="0" y="0"/>
            <a:chExt cx="3283204" cy="16372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83204" cy="1637284"/>
            </a:xfrm>
            <a:custGeom>
              <a:avLst/>
              <a:gdLst/>
              <a:ahLst/>
              <a:cxnLst/>
              <a:rect r="r" b="b" t="t" l="l"/>
              <a:pathLst>
                <a:path h="1637284" w="3283204">
                  <a:moveTo>
                    <a:pt x="0" y="130937"/>
                  </a:moveTo>
                  <a:cubicBezTo>
                    <a:pt x="0" y="58674"/>
                    <a:pt x="58674" y="0"/>
                    <a:pt x="130937" y="0"/>
                  </a:cubicBezTo>
                  <a:lnTo>
                    <a:pt x="3152267" y="0"/>
                  </a:lnTo>
                  <a:cubicBezTo>
                    <a:pt x="3224657" y="0"/>
                    <a:pt x="3283204" y="58674"/>
                    <a:pt x="3283204" y="130937"/>
                  </a:cubicBezTo>
                  <a:lnTo>
                    <a:pt x="3283204" y="1506347"/>
                  </a:lnTo>
                  <a:cubicBezTo>
                    <a:pt x="3283204" y="1578737"/>
                    <a:pt x="3224530" y="1637284"/>
                    <a:pt x="3152267" y="1637284"/>
                  </a:cubicBezTo>
                  <a:lnTo>
                    <a:pt x="130937" y="1637284"/>
                  </a:lnTo>
                  <a:cubicBezTo>
                    <a:pt x="58674" y="1637284"/>
                    <a:pt x="0" y="1578610"/>
                    <a:pt x="0" y="1506347"/>
                  </a:cubicBezTo>
                  <a:close/>
                </a:path>
              </a:pathLst>
            </a:custGeom>
            <a:solidFill>
              <a:srgbClr val="0D283E">
                <a:alpha val="80000"/>
              </a:srgbClr>
            </a:solidFill>
            <a:ln w="20955" cap="sq">
              <a:solidFill>
                <a:srgbClr val="1380BE">
                  <a:alpha val="80000"/>
                </a:srgbClr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807643" y="8027099"/>
            <a:ext cx="4341495" cy="1227963"/>
            <a:chOff x="0" y="0"/>
            <a:chExt cx="5788660" cy="16372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788660" cy="1637284"/>
            </a:xfrm>
            <a:custGeom>
              <a:avLst/>
              <a:gdLst/>
              <a:ahLst/>
              <a:cxnLst/>
              <a:rect r="r" b="b" t="t" l="l"/>
              <a:pathLst>
                <a:path h="1637284" w="5788660">
                  <a:moveTo>
                    <a:pt x="0" y="130937"/>
                  </a:moveTo>
                  <a:cubicBezTo>
                    <a:pt x="0" y="58674"/>
                    <a:pt x="58674" y="0"/>
                    <a:pt x="130937" y="0"/>
                  </a:cubicBezTo>
                  <a:lnTo>
                    <a:pt x="5657723" y="0"/>
                  </a:lnTo>
                  <a:cubicBezTo>
                    <a:pt x="5730113" y="0"/>
                    <a:pt x="5788660" y="58674"/>
                    <a:pt x="5788660" y="130937"/>
                  </a:cubicBezTo>
                  <a:lnTo>
                    <a:pt x="5788660" y="1506347"/>
                  </a:lnTo>
                  <a:cubicBezTo>
                    <a:pt x="5788660" y="1578737"/>
                    <a:pt x="5729986" y="1637284"/>
                    <a:pt x="5657723" y="1637284"/>
                  </a:cubicBezTo>
                  <a:lnTo>
                    <a:pt x="130937" y="1637284"/>
                  </a:lnTo>
                  <a:cubicBezTo>
                    <a:pt x="58674" y="1637284"/>
                    <a:pt x="0" y="1578610"/>
                    <a:pt x="0" y="1506347"/>
                  </a:cubicBezTo>
                  <a:close/>
                </a:path>
              </a:pathLst>
            </a:custGeom>
            <a:solidFill>
              <a:srgbClr val="0D283E">
                <a:alpha val="80000"/>
              </a:srgbClr>
            </a:solidFill>
            <a:ln w="20955" cap="sq">
              <a:solidFill>
                <a:srgbClr val="1380BE">
                  <a:alpha val="80000"/>
                </a:srgbClr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333922" y="8027099"/>
            <a:ext cx="5027295" cy="1227963"/>
            <a:chOff x="0" y="0"/>
            <a:chExt cx="6703060" cy="16372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03060" cy="1637284"/>
            </a:xfrm>
            <a:custGeom>
              <a:avLst/>
              <a:gdLst/>
              <a:ahLst/>
              <a:cxnLst/>
              <a:rect r="r" b="b" t="t" l="l"/>
              <a:pathLst>
                <a:path h="1637284" w="6703060">
                  <a:moveTo>
                    <a:pt x="0" y="130937"/>
                  </a:moveTo>
                  <a:cubicBezTo>
                    <a:pt x="0" y="58674"/>
                    <a:pt x="58674" y="0"/>
                    <a:pt x="130937" y="0"/>
                  </a:cubicBezTo>
                  <a:lnTo>
                    <a:pt x="6572123" y="0"/>
                  </a:lnTo>
                  <a:cubicBezTo>
                    <a:pt x="6644513" y="0"/>
                    <a:pt x="6703060" y="58674"/>
                    <a:pt x="6703060" y="130937"/>
                  </a:cubicBezTo>
                  <a:lnTo>
                    <a:pt x="6703060" y="1506347"/>
                  </a:lnTo>
                  <a:cubicBezTo>
                    <a:pt x="6703060" y="1578737"/>
                    <a:pt x="6644386" y="1637284"/>
                    <a:pt x="6572123" y="1637284"/>
                  </a:cubicBezTo>
                  <a:lnTo>
                    <a:pt x="130937" y="1637284"/>
                  </a:lnTo>
                  <a:cubicBezTo>
                    <a:pt x="58674" y="1637284"/>
                    <a:pt x="0" y="1578610"/>
                    <a:pt x="0" y="1506347"/>
                  </a:cubicBezTo>
                  <a:close/>
                </a:path>
              </a:pathLst>
            </a:custGeom>
            <a:solidFill>
              <a:srgbClr val="0D283E">
                <a:alpha val="80000"/>
              </a:srgbClr>
            </a:solidFill>
            <a:ln w="20955" cap="sq">
              <a:solidFill>
                <a:srgbClr val="1380BE">
                  <a:alpha val="80000"/>
                </a:srgbClr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-10478" y="9974770"/>
            <a:ext cx="18308498" cy="322707"/>
            <a:chOff x="0" y="0"/>
            <a:chExt cx="24411330" cy="4302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411305" cy="430276"/>
            </a:xfrm>
            <a:custGeom>
              <a:avLst/>
              <a:gdLst/>
              <a:ahLst/>
              <a:cxnLst/>
              <a:rect r="r" b="b" t="t" l="l"/>
              <a:pathLst>
                <a:path h="430276" w="24411305">
                  <a:moveTo>
                    <a:pt x="0" y="0"/>
                  </a:moveTo>
                  <a:lnTo>
                    <a:pt x="24411305" y="0"/>
                  </a:lnTo>
                  <a:lnTo>
                    <a:pt x="24411305" y="430276"/>
                  </a:lnTo>
                  <a:lnTo>
                    <a:pt x="0" y="430276"/>
                  </a:lnTo>
                  <a:close/>
                </a:path>
              </a:pathLst>
            </a:custGeom>
            <a:solidFill>
              <a:srgbClr val="0C2438"/>
            </a:solidFill>
            <a:ln w="20955" cap="sq">
              <a:solidFill>
                <a:srgbClr val="0C2438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896457" y="372118"/>
            <a:ext cx="3904143" cy="49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PROJECT OVERVIEW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91540" y="1216533"/>
            <a:ext cx="16459200" cy="42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Adventure Works Sales Analytics • Excel • SQL • Power BI • Tableau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34440" y="2139696"/>
            <a:ext cx="356616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ABOUT THE PROJECT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34440" y="2533269"/>
            <a:ext cx="15636240" cy="542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Adventure Works Cycles is a fictional multinational bicycle manufacturer and seller. This project transforms raw sales data into business insights across products, customers, regions and time, using Excel, SQL, Power BI and Tableau.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38428" y="4087368"/>
            <a:ext cx="3223260" cy="36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DATA MODELING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65860" y="4663440"/>
            <a:ext cx="3223260" cy="1000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Star-schema model with Fact Sales and dimension tables.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349240" y="4087368"/>
            <a:ext cx="3223260" cy="36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SQL ANALYSIS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376672" y="4663440"/>
            <a:ext cx="3223260" cy="133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FFFFFF">
                    <a:alpha val="80000"/>
                  </a:srgbClr>
                </a:solidFill>
                <a:latin typeface="Aptos Bold"/>
                <a:ea typeface="Aptos Bold"/>
                <a:cs typeface="Aptos Bold"/>
                <a:sym typeface="Aptos Bold"/>
              </a:rPr>
              <a:t>13 business questions solved with queries, joins, dates and aggregations.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560052" y="4087368"/>
            <a:ext cx="3223260" cy="36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VISUALIZATION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587484" y="4663440"/>
            <a:ext cx="3223260" cy="133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Excel, Tableau and Power BI dashboards with KPIs, charts and slicers.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770864" y="4087368"/>
            <a:ext cx="3223260" cy="36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POWER QUERY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798296" y="4663440"/>
            <a:ext cx="3223260" cy="133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Data cleaning, append/merge, transformations and calculated fields.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34440" y="7118604"/>
            <a:ext cx="185166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DATA MODEL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086100" y="7091172"/>
            <a:ext cx="13853160" cy="29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Fact_Sales  →  DimCustomer  |  DimProduct  |  DimDate  |  DimSalesTerritory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97280" y="8270748"/>
            <a:ext cx="3127248" cy="24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9"/>
              </a:lnSpc>
            </a:pPr>
            <a:r>
              <a:rPr lang="en-US" sz="164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TOOLS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97280" y="8599932"/>
            <a:ext cx="3127248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170932" y="8270748"/>
            <a:ext cx="2029968" cy="24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9"/>
              </a:lnSpc>
            </a:pPr>
            <a:r>
              <a:rPr lang="en-US" b="true" sz="1649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QUESTIONS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170932" y="8599932"/>
            <a:ext cx="2029968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13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023860" y="8270748"/>
            <a:ext cx="3909060" cy="24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9"/>
              </a:lnSpc>
            </a:pPr>
            <a:r>
              <a:rPr lang="en-US" sz="164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CORE OUTPUTS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023860" y="8599932"/>
            <a:ext cx="3909060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Sales • Profit • Cost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550140" y="8270748"/>
            <a:ext cx="4594860" cy="24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9"/>
              </a:lnSpc>
            </a:pPr>
            <a:r>
              <a:rPr lang="en-US" sz="164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DASHBOARDS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550140" y="8599932"/>
            <a:ext cx="4594860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Excel • Tableau • Power BI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54380" y="9989439"/>
            <a:ext cx="9601200" cy="20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ADVENTURE WORKS • DATA ANALYTICS PROJECT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6184880" y="9989439"/>
            <a:ext cx="617220" cy="20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2026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7035272" y="9989439"/>
            <a:ext cx="384048" cy="20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304675" cy="10287000"/>
          </a:xfrm>
          <a:custGeom>
            <a:avLst/>
            <a:gdLst/>
            <a:ahLst/>
            <a:cxnLst/>
            <a:rect r="r" b="b" t="t" l="l"/>
            <a:pathLst>
              <a:path h="10287000" w="18304675">
                <a:moveTo>
                  <a:pt x="0" y="0"/>
                </a:moveTo>
                <a:lnTo>
                  <a:pt x="18304675" y="0"/>
                </a:lnTo>
                <a:lnTo>
                  <a:pt x="183046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73" t="-10536" r="-4973" b="0"/>
            </a:stretch>
          </a:blipFill>
        </p:spPr>
      </p:sp>
      <p:sp>
        <p:nvSpPr>
          <p:cNvPr name="AutoShape 4" id="4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5008543" y="154114"/>
            <a:ext cx="2558415" cy="597027"/>
            <a:chOff x="0" y="0"/>
            <a:chExt cx="3411220" cy="7960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11220" cy="796036"/>
            </a:xfrm>
            <a:custGeom>
              <a:avLst/>
              <a:gdLst/>
              <a:ahLst/>
              <a:cxnLst/>
              <a:rect r="r" b="b" t="t" l="l"/>
              <a:pathLst>
                <a:path h="796036" w="3411220">
                  <a:moveTo>
                    <a:pt x="0" y="63627"/>
                  </a:moveTo>
                  <a:cubicBezTo>
                    <a:pt x="0" y="28575"/>
                    <a:pt x="28575" y="0"/>
                    <a:pt x="63627" y="0"/>
                  </a:cubicBezTo>
                  <a:lnTo>
                    <a:pt x="3347593" y="0"/>
                  </a:lnTo>
                  <a:cubicBezTo>
                    <a:pt x="3382772" y="0"/>
                    <a:pt x="3411220" y="28575"/>
                    <a:pt x="3411220" y="63627"/>
                  </a:cubicBezTo>
                  <a:lnTo>
                    <a:pt x="3411220" y="732409"/>
                  </a:lnTo>
                  <a:cubicBezTo>
                    <a:pt x="3411220" y="767588"/>
                    <a:pt x="3382645" y="796036"/>
                    <a:pt x="3347593" y="796036"/>
                  </a:cubicBezTo>
                  <a:lnTo>
                    <a:pt x="63627" y="796036"/>
                  </a:lnTo>
                  <a:cubicBezTo>
                    <a:pt x="28575" y="796036"/>
                    <a:pt x="0" y="767461"/>
                    <a:pt x="0" y="732409"/>
                  </a:cubicBezTo>
                  <a:close/>
                </a:path>
              </a:pathLst>
            </a:custGeom>
            <a:solidFill>
              <a:srgbClr val="1CA57A"/>
            </a:solidFill>
            <a:ln w="20955" cap="sq">
              <a:solidFill>
                <a:srgbClr val="1CA57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43902" y="1388554"/>
            <a:ext cx="11748135" cy="7674483"/>
            <a:chOff x="0" y="0"/>
            <a:chExt cx="15664180" cy="102326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664180" cy="10232644"/>
            </a:xfrm>
            <a:custGeom>
              <a:avLst/>
              <a:gdLst/>
              <a:ahLst/>
              <a:cxnLst/>
              <a:rect r="r" b="b" t="t" l="l"/>
              <a:pathLst>
                <a:path h="10232644" w="15664180">
                  <a:moveTo>
                    <a:pt x="0" y="0"/>
                  </a:moveTo>
                  <a:lnTo>
                    <a:pt x="15664180" y="0"/>
                  </a:lnTo>
                  <a:lnTo>
                    <a:pt x="15664180" y="10232644"/>
                  </a:lnTo>
                  <a:lnTo>
                    <a:pt x="0" y="10232644"/>
                  </a:lnTo>
                  <a:close/>
                </a:path>
              </a:pathLst>
            </a:custGeom>
            <a:solidFill>
              <a:srgbClr val="091929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66229" y="1731454"/>
            <a:ext cx="11103483" cy="6920103"/>
            <a:chOff x="0" y="0"/>
            <a:chExt cx="14804644" cy="92268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804644" cy="9226804"/>
            </a:xfrm>
            <a:custGeom>
              <a:avLst/>
              <a:gdLst/>
              <a:ahLst/>
              <a:cxnLst/>
              <a:rect r="r" b="b" t="t" l="l"/>
              <a:pathLst>
                <a:path h="9226804" w="14804644">
                  <a:moveTo>
                    <a:pt x="0" y="0"/>
                  </a:moveTo>
                  <a:lnTo>
                    <a:pt x="14804644" y="0"/>
                  </a:lnTo>
                  <a:lnTo>
                    <a:pt x="14804644" y="9226804"/>
                  </a:lnTo>
                  <a:lnTo>
                    <a:pt x="0" y="9226804"/>
                  </a:lnTo>
                  <a:close/>
                </a:path>
              </a:pathLst>
            </a:custGeom>
            <a:blipFill>
              <a:blip r:embed="rId3"/>
              <a:stretch>
                <a:fillRect l="-140" t="0" r="-140" b="0"/>
              </a:stretch>
            </a:blipFill>
            <a:ln w="20955" cap="sq">
              <a:solidFill>
                <a:srgbClr val="40657E"/>
              </a:solidFill>
              <a:prstDash val="solid"/>
              <a:miter/>
            </a:ln>
          </p:spPr>
        </p:sp>
      </p:grpSp>
      <p:sp>
        <p:nvSpPr>
          <p:cNvPr name="AutoShape 14" id="14"/>
          <p:cNvSpPr/>
          <p:nvPr/>
        </p:nvSpPr>
        <p:spPr>
          <a:xfrm rot="4500">
            <a:off x="1502092" y="2121217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4500">
            <a:off x="1502092" y="2807017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4500">
            <a:off x="1502092" y="3492817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4500">
            <a:off x="1502092" y="4178617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4500">
            <a:off x="1502092" y="4864418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4500">
            <a:off x="1502092" y="5550218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4500">
            <a:off x="1502092" y="6236018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4500">
            <a:off x="1502092" y="6921818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4500">
            <a:off x="1502092" y="7607618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2813982" y="1388554"/>
            <a:ext cx="4684395" cy="953643"/>
            <a:chOff x="0" y="0"/>
            <a:chExt cx="6245860" cy="12715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45860" cy="1271524"/>
            </a:xfrm>
            <a:custGeom>
              <a:avLst/>
              <a:gdLst/>
              <a:ahLst/>
              <a:cxnLst/>
              <a:rect r="r" b="b" t="t" l="l"/>
              <a:pathLst>
                <a:path h="1271524" w="6245860">
                  <a:moveTo>
                    <a:pt x="0" y="101727"/>
                  </a:moveTo>
                  <a:cubicBezTo>
                    <a:pt x="0" y="45593"/>
                    <a:pt x="45593" y="0"/>
                    <a:pt x="101727" y="0"/>
                  </a:cubicBezTo>
                  <a:lnTo>
                    <a:pt x="6144133" y="0"/>
                  </a:lnTo>
                  <a:cubicBezTo>
                    <a:pt x="6200267" y="0"/>
                    <a:pt x="6245860" y="45593"/>
                    <a:pt x="6245860" y="101727"/>
                  </a:cubicBezTo>
                  <a:lnTo>
                    <a:pt x="6245860" y="1169797"/>
                  </a:lnTo>
                  <a:cubicBezTo>
                    <a:pt x="6245860" y="1225931"/>
                    <a:pt x="6200267" y="1271524"/>
                    <a:pt x="6144133" y="1271524"/>
                  </a:cubicBezTo>
                  <a:lnTo>
                    <a:pt x="101727" y="1271524"/>
                  </a:lnTo>
                  <a:cubicBezTo>
                    <a:pt x="45593" y="1271524"/>
                    <a:pt x="0" y="1225931"/>
                    <a:pt x="0" y="1169797"/>
                  </a:cubicBezTo>
                  <a:close/>
                </a:path>
              </a:pathLst>
            </a:custGeom>
            <a:solidFill>
              <a:srgbClr val="0D283E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813982" y="1388554"/>
            <a:ext cx="130683" cy="953643"/>
            <a:chOff x="0" y="0"/>
            <a:chExt cx="174244" cy="12715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4244" cy="1271524"/>
            </a:xfrm>
            <a:custGeom>
              <a:avLst/>
              <a:gdLst/>
              <a:ahLst/>
              <a:cxnLst/>
              <a:rect r="r" b="b" t="t" l="l"/>
              <a:pathLst>
                <a:path h="1271524" w="174244">
                  <a:moveTo>
                    <a:pt x="0" y="0"/>
                  </a:moveTo>
                  <a:lnTo>
                    <a:pt x="174244" y="0"/>
                  </a:lnTo>
                  <a:lnTo>
                    <a:pt x="174244" y="1271524"/>
                  </a:lnTo>
                  <a:lnTo>
                    <a:pt x="0" y="127152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1CA57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813982" y="2595562"/>
            <a:ext cx="4684395" cy="953643"/>
            <a:chOff x="0" y="0"/>
            <a:chExt cx="6245860" cy="12715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45860" cy="1271524"/>
            </a:xfrm>
            <a:custGeom>
              <a:avLst/>
              <a:gdLst/>
              <a:ahLst/>
              <a:cxnLst/>
              <a:rect r="r" b="b" t="t" l="l"/>
              <a:pathLst>
                <a:path h="1271524" w="6245860">
                  <a:moveTo>
                    <a:pt x="0" y="101727"/>
                  </a:moveTo>
                  <a:cubicBezTo>
                    <a:pt x="0" y="45593"/>
                    <a:pt x="45593" y="0"/>
                    <a:pt x="101727" y="0"/>
                  </a:cubicBezTo>
                  <a:lnTo>
                    <a:pt x="6144133" y="0"/>
                  </a:lnTo>
                  <a:cubicBezTo>
                    <a:pt x="6200267" y="0"/>
                    <a:pt x="6245860" y="45593"/>
                    <a:pt x="6245860" y="101727"/>
                  </a:cubicBezTo>
                  <a:lnTo>
                    <a:pt x="6245860" y="1169797"/>
                  </a:lnTo>
                  <a:cubicBezTo>
                    <a:pt x="6245860" y="1225931"/>
                    <a:pt x="6200267" y="1271524"/>
                    <a:pt x="6144133" y="1271524"/>
                  </a:cubicBezTo>
                  <a:lnTo>
                    <a:pt x="101727" y="1271524"/>
                  </a:lnTo>
                  <a:cubicBezTo>
                    <a:pt x="45593" y="1271524"/>
                    <a:pt x="0" y="1225931"/>
                    <a:pt x="0" y="1169797"/>
                  </a:cubicBezTo>
                  <a:close/>
                </a:path>
              </a:pathLst>
            </a:custGeom>
            <a:solidFill>
              <a:srgbClr val="0D283E"/>
            </a:solidFill>
            <a:ln w="20955" cap="sq">
              <a:solidFill>
                <a:srgbClr val="1380BE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813982" y="2595562"/>
            <a:ext cx="130683" cy="953643"/>
            <a:chOff x="0" y="0"/>
            <a:chExt cx="174244" cy="12715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4244" cy="1271524"/>
            </a:xfrm>
            <a:custGeom>
              <a:avLst/>
              <a:gdLst/>
              <a:ahLst/>
              <a:cxnLst/>
              <a:rect r="r" b="b" t="t" l="l"/>
              <a:pathLst>
                <a:path h="1271524" w="174244">
                  <a:moveTo>
                    <a:pt x="0" y="0"/>
                  </a:moveTo>
                  <a:lnTo>
                    <a:pt x="174244" y="0"/>
                  </a:lnTo>
                  <a:lnTo>
                    <a:pt x="174244" y="1271524"/>
                  </a:lnTo>
                  <a:lnTo>
                    <a:pt x="0" y="127152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813982" y="3802571"/>
            <a:ext cx="4684395" cy="953643"/>
            <a:chOff x="0" y="0"/>
            <a:chExt cx="6245860" cy="127152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45860" cy="1271524"/>
            </a:xfrm>
            <a:custGeom>
              <a:avLst/>
              <a:gdLst/>
              <a:ahLst/>
              <a:cxnLst/>
              <a:rect r="r" b="b" t="t" l="l"/>
              <a:pathLst>
                <a:path h="1271524" w="6245860">
                  <a:moveTo>
                    <a:pt x="0" y="101727"/>
                  </a:moveTo>
                  <a:cubicBezTo>
                    <a:pt x="0" y="45593"/>
                    <a:pt x="45593" y="0"/>
                    <a:pt x="101727" y="0"/>
                  </a:cubicBezTo>
                  <a:lnTo>
                    <a:pt x="6144133" y="0"/>
                  </a:lnTo>
                  <a:cubicBezTo>
                    <a:pt x="6200267" y="0"/>
                    <a:pt x="6245860" y="45593"/>
                    <a:pt x="6245860" y="101727"/>
                  </a:cubicBezTo>
                  <a:lnTo>
                    <a:pt x="6245860" y="1169797"/>
                  </a:lnTo>
                  <a:cubicBezTo>
                    <a:pt x="6245860" y="1225931"/>
                    <a:pt x="6200267" y="1271524"/>
                    <a:pt x="6144133" y="1271524"/>
                  </a:cubicBezTo>
                  <a:lnTo>
                    <a:pt x="101727" y="1271524"/>
                  </a:lnTo>
                  <a:cubicBezTo>
                    <a:pt x="45593" y="1271524"/>
                    <a:pt x="0" y="1225931"/>
                    <a:pt x="0" y="1169797"/>
                  </a:cubicBezTo>
                  <a:close/>
                </a:path>
              </a:pathLst>
            </a:custGeom>
            <a:solidFill>
              <a:srgbClr val="0D283E"/>
            </a:solidFill>
            <a:ln w="20955" cap="sq">
              <a:solidFill>
                <a:srgbClr val="1380BE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813982" y="3802571"/>
            <a:ext cx="130683" cy="953643"/>
            <a:chOff x="0" y="0"/>
            <a:chExt cx="174244" cy="12715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4244" cy="1271524"/>
            </a:xfrm>
            <a:custGeom>
              <a:avLst/>
              <a:gdLst/>
              <a:ahLst/>
              <a:cxnLst/>
              <a:rect r="r" b="b" t="t" l="l"/>
              <a:pathLst>
                <a:path h="1271524" w="174244">
                  <a:moveTo>
                    <a:pt x="0" y="0"/>
                  </a:moveTo>
                  <a:lnTo>
                    <a:pt x="174244" y="0"/>
                  </a:lnTo>
                  <a:lnTo>
                    <a:pt x="174244" y="1271524"/>
                  </a:lnTo>
                  <a:lnTo>
                    <a:pt x="0" y="127152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813982" y="5009579"/>
            <a:ext cx="4684395" cy="953643"/>
            <a:chOff x="0" y="0"/>
            <a:chExt cx="6245860" cy="12715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245860" cy="1271524"/>
            </a:xfrm>
            <a:custGeom>
              <a:avLst/>
              <a:gdLst/>
              <a:ahLst/>
              <a:cxnLst/>
              <a:rect r="r" b="b" t="t" l="l"/>
              <a:pathLst>
                <a:path h="1271524" w="6245860">
                  <a:moveTo>
                    <a:pt x="0" y="101727"/>
                  </a:moveTo>
                  <a:cubicBezTo>
                    <a:pt x="0" y="45593"/>
                    <a:pt x="45593" y="0"/>
                    <a:pt x="101727" y="0"/>
                  </a:cubicBezTo>
                  <a:lnTo>
                    <a:pt x="6144133" y="0"/>
                  </a:lnTo>
                  <a:cubicBezTo>
                    <a:pt x="6200267" y="0"/>
                    <a:pt x="6245860" y="45593"/>
                    <a:pt x="6245860" y="101727"/>
                  </a:cubicBezTo>
                  <a:lnTo>
                    <a:pt x="6245860" y="1169797"/>
                  </a:lnTo>
                  <a:cubicBezTo>
                    <a:pt x="6245860" y="1225931"/>
                    <a:pt x="6200267" y="1271524"/>
                    <a:pt x="6144133" y="1271524"/>
                  </a:cubicBezTo>
                  <a:lnTo>
                    <a:pt x="101727" y="1271524"/>
                  </a:lnTo>
                  <a:cubicBezTo>
                    <a:pt x="45593" y="1271524"/>
                    <a:pt x="0" y="1225931"/>
                    <a:pt x="0" y="1169797"/>
                  </a:cubicBezTo>
                  <a:close/>
                </a:path>
              </a:pathLst>
            </a:custGeom>
            <a:solidFill>
              <a:srgbClr val="0D283E"/>
            </a:solidFill>
            <a:ln w="20955" cap="sq">
              <a:solidFill>
                <a:srgbClr val="1380BE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813982" y="5009579"/>
            <a:ext cx="130683" cy="953643"/>
            <a:chOff x="0" y="0"/>
            <a:chExt cx="174244" cy="127152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4244" cy="1271524"/>
            </a:xfrm>
            <a:custGeom>
              <a:avLst/>
              <a:gdLst/>
              <a:ahLst/>
              <a:cxnLst/>
              <a:rect r="r" b="b" t="t" l="l"/>
              <a:pathLst>
                <a:path h="1271524" w="174244">
                  <a:moveTo>
                    <a:pt x="0" y="0"/>
                  </a:moveTo>
                  <a:lnTo>
                    <a:pt x="174244" y="0"/>
                  </a:lnTo>
                  <a:lnTo>
                    <a:pt x="174244" y="1271524"/>
                  </a:lnTo>
                  <a:lnTo>
                    <a:pt x="0" y="127152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813982" y="6216586"/>
            <a:ext cx="4684395" cy="953643"/>
            <a:chOff x="0" y="0"/>
            <a:chExt cx="6245860" cy="12715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45860" cy="1271524"/>
            </a:xfrm>
            <a:custGeom>
              <a:avLst/>
              <a:gdLst/>
              <a:ahLst/>
              <a:cxnLst/>
              <a:rect r="r" b="b" t="t" l="l"/>
              <a:pathLst>
                <a:path h="1271524" w="6245860">
                  <a:moveTo>
                    <a:pt x="0" y="101727"/>
                  </a:moveTo>
                  <a:cubicBezTo>
                    <a:pt x="0" y="45593"/>
                    <a:pt x="45593" y="0"/>
                    <a:pt x="101727" y="0"/>
                  </a:cubicBezTo>
                  <a:lnTo>
                    <a:pt x="6144133" y="0"/>
                  </a:lnTo>
                  <a:cubicBezTo>
                    <a:pt x="6200267" y="0"/>
                    <a:pt x="6245860" y="45593"/>
                    <a:pt x="6245860" y="101727"/>
                  </a:cubicBezTo>
                  <a:lnTo>
                    <a:pt x="6245860" y="1169797"/>
                  </a:lnTo>
                  <a:cubicBezTo>
                    <a:pt x="6245860" y="1225931"/>
                    <a:pt x="6200267" y="1271524"/>
                    <a:pt x="6144133" y="1271524"/>
                  </a:cubicBezTo>
                  <a:lnTo>
                    <a:pt x="101727" y="1271524"/>
                  </a:lnTo>
                  <a:cubicBezTo>
                    <a:pt x="45593" y="1271524"/>
                    <a:pt x="0" y="1225931"/>
                    <a:pt x="0" y="1169797"/>
                  </a:cubicBezTo>
                  <a:close/>
                </a:path>
              </a:pathLst>
            </a:custGeom>
            <a:solidFill>
              <a:srgbClr val="0D283E"/>
            </a:solidFill>
            <a:ln w="20955" cap="sq">
              <a:solidFill>
                <a:srgbClr val="1380BE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813982" y="6216586"/>
            <a:ext cx="130683" cy="953643"/>
            <a:chOff x="0" y="0"/>
            <a:chExt cx="174244" cy="127152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4244" cy="1271524"/>
            </a:xfrm>
            <a:custGeom>
              <a:avLst/>
              <a:gdLst/>
              <a:ahLst/>
              <a:cxnLst/>
              <a:rect r="r" b="b" t="t" l="l"/>
              <a:pathLst>
                <a:path h="1271524" w="174244">
                  <a:moveTo>
                    <a:pt x="0" y="0"/>
                  </a:moveTo>
                  <a:lnTo>
                    <a:pt x="174244" y="0"/>
                  </a:lnTo>
                  <a:lnTo>
                    <a:pt x="174244" y="1271524"/>
                  </a:lnTo>
                  <a:lnTo>
                    <a:pt x="0" y="127152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813982" y="7423594"/>
            <a:ext cx="4684395" cy="953643"/>
            <a:chOff x="0" y="0"/>
            <a:chExt cx="6245860" cy="127152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245860" cy="1271524"/>
            </a:xfrm>
            <a:custGeom>
              <a:avLst/>
              <a:gdLst/>
              <a:ahLst/>
              <a:cxnLst/>
              <a:rect r="r" b="b" t="t" l="l"/>
              <a:pathLst>
                <a:path h="1271524" w="6245860">
                  <a:moveTo>
                    <a:pt x="0" y="101727"/>
                  </a:moveTo>
                  <a:cubicBezTo>
                    <a:pt x="0" y="45593"/>
                    <a:pt x="45593" y="0"/>
                    <a:pt x="101727" y="0"/>
                  </a:cubicBezTo>
                  <a:lnTo>
                    <a:pt x="6144133" y="0"/>
                  </a:lnTo>
                  <a:cubicBezTo>
                    <a:pt x="6200267" y="0"/>
                    <a:pt x="6245860" y="45593"/>
                    <a:pt x="6245860" y="101727"/>
                  </a:cubicBezTo>
                  <a:lnTo>
                    <a:pt x="6245860" y="1169797"/>
                  </a:lnTo>
                  <a:cubicBezTo>
                    <a:pt x="6245860" y="1225931"/>
                    <a:pt x="6200267" y="1271524"/>
                    <a:pt x="6144133" y="1271524"/>
                  </a:cubicBezTo>
                  <a:lnTo>
                    <a:pt x="101727" y="1271524"/>
                  </a:lnTo>
                  <a:cubicBezTo>
                    <a:pt x="45593" y="1271524"/>
                    <a:pt x="0" y="1225931"/>
                    <a:pt x="0" y="1169797"/>
                  </a:cubicBezTo>
                  <a:close/>
                </a:path>
              </a:pathLst>
            </a:custGeom>
            <a:solidFill>
              <a:srgbClr val="0D283E"/>
            </a:solidFill>
            <a:ln w="20955" cap="sq">
              <a:solidFill>
                <a:srgbClr val="1380BE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813982" y="7423594"/>
            <a:ext cx="130683" cy="953643"/>
            <a:chOff x="0" y="0"/>
            <a:chExt cx="174244" cy="127152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4244" cy="1271524"/>
            </a:xfrm>
            <a:custGeom>
              <a:avLst/>
              <a:gdLst/>
              <a:ahLst/>
              <a:cxnLst/>
              <a:rect r="r" b="b" t="t" l="l"/>
              <a:pathLst>
                <a:path h="1271524" w="174244">
                  <a:moveTo>
                    <a:pt x="0" y="0"/>
                  </a:moveTo>
                  <a:lnTo>
                    <a:pt x="174244" y="0"/>
                  </a:lnTo>
                  <a:lnTo>
                    <a:pt x="174244" y="1271524"/>
                  </a:lnTo>
                  <a:lnTo>
                    <a:pt x="0" y="127152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-10478" y="9974770"/>
            <a:ext cx="18308498" cy="322707"/>
            <a:chOff x="0" y="0"/>
            <a:chExt cx="24411330" cy="43027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4411305" cy="430276"/>
            </a:xfrm>
            <a:custGeom>
              <a:avLst/>
              <a:gdLst/>
              <a:ahLst/>
              <a:cxnLst/>
              <a:rect r="r" b="b" t="t" l="l"/>
              <a:pathLst>
                <a:path h="430276" w="24411305">
                  <a:moveTo>
                    <a:pt x="0" y="0"/>
                  </a:moveTo>
                  <a:lnTo>
                    <a:pt x="24411305" y="0"/>
                  </a:lnTo>
                  <a:lnTo>
                    <a:pt x="24411305" y="430276"/>
                  </a:lnTo>
                  <a:lnTo>
                    <a:pt x="0" y="430276"/>
                  </a:lnTo>
                  <a:close/>
                </a:path>
              </a:pathLst>
            </a:custGeom>
            <a:solidFill>
              <a:srgbClr val="0C2438"/>
            </a:solidFill>
            <a:ln w="20955" cap="sq">
              <a:solidFill>
                <a:srgbClr val="0C2438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754380" y="178308"/>
            <a:ext cx="7680960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EXCEL DASHBOARD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54380" y="672084"/>
            <a:ext cx="8915400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Microsoft Excel  |  Pivot Tables • Charts • Slicers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128748" y="292227"/>
            <a:ext cx="2304288" cy="25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MICROSOFT EXCEL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139928" y="1563624"/>
            <a:ext cx="404622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YEAR-WISE SALES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139928" y="1869567"/>
            <a:ext cx="4046220" cy="2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Column / Bar Chart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139928" y="2770632"/>
            <a:ext cx="4046220" cy="23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MONTH-WISE SALES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139928" y="3076575"/>
            <a:ext cx="4046220" cy="20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Line Chart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139928" y="3977640"/>
            <a:ext cx="404622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REGION SALES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139928" y="4283583"/>
            <a:ext cx="4046220" cy="20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Pie chart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139928" y="5175123"/>
            <a:ext cx="4046220" cy="240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5F9F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SALES VS PROD COST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139928" y="5500116"/>
            <a:ext cx="4046220" cy="19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AFC5D6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Combination Chart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139928" y="6391656"/>
            <a:ext cx="4046220" cy="23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KPI’S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111934" y="6707124"/>
            <a:ext cx="4347972" cy="39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AFC5D6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Total Sales • Total Profit • Total Orders • Best Selling Product</a:t>
            </a:r>
          </a:p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AFC5D6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Top Sales Region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139928" y="7598664"/>
            <a:ext cx="4046220" cy="23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FILTERS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139928" y="7904607"/>
            <a:ext cx="4046220" cy="20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•  Year • Month • Quarter • Region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833007" y="9368028"/>
            <a:ext cx="12576266" cy="35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9"/>
              </a:lnSpc>
            </a:pPr>
            <a:r>
              <a:rPr lang="en-US" sz="2324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Excel workflow: Data Preparation → Pivot Analysis → Interactive Dashboard → Business Insights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54380" y="9989439"/>
            <a:ext cx="9601200" cy="20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ADVENTURE WORKS • DATA ANALYTICS PROJECT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184880" y="9989439"/>
            <a:ext cx="617220" cy="20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2026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7035272" y="9989439"/>
            <a:ext cx="384048" cy="20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0477" y="-3162748"/>
            <a:ext cx="18298477" cy="13658802"/>
          </a:xfrm>
          <a:custGeom>
            <a:avLst/>
            <a:gdLst/>
            <a:ahLst/>
            <a:cxnLst/>
            <a:rect r="r" b="b" t="t" l="l"/>
            <a:pathLst>
              <a:path h="13658802" w="18298477">
                <a:moveTo>
                  <a:pt x="0" y="0"/>
                </a:moveTo>
                <a:lnTo>
                  <a:pt x="18298477" y="0"/>
                </a:lnTo>
                <a:lnTo>
                  <a:pt x="18298477" y="13658802"/>
                </a:lnTo>
                <a:lnTo>
                  <a:pt x="0" y="13658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128" t="0" r="-5986" b="0"/>
            </a:stretch>
          </a:blipFill>
        </p:spPr>
      </p:sp>
      <p:sp>
        <p:nvSpPr>
          <p:cNvPr name="AutoShape 4" id="4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5008543" y="154114"/>
            <a:ext cx="2558415" cy="597027"/>
            <a:chOff x="0" y="0"/>
            <a:chExt cx="3411220" cy="7960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11220" cy="796036"/>
            </a:xfrm>
            <a:custGeom>
              <a:avLst/>
              <a:gdLst/>
              <a:ahLst/>
              <a:cxnLst/>
              <a:rect r="r" b="b" t="t" l="l"/>
              <a:pathLst>
                <a:path h="796036" w="3411220">
                  <a:moveTo>
                    <a:pt x="0" y="63627"/>
                  </a:moveTo>
                  <a:cubicBezTo>
                    <a:pt x="0" y="28575"/>
                    <a:pt x="28575" y="0"/>
                    <a:pt x="63627" y="0"/>
                  </a:cubicBezTo>
                  <a:lnTo>
                    <a:pt x="3347593" y="0"/>
                  </a:lnTo>
                  <a:cubicBezTo>
                    <a:pt x="3382772" y="0"/>
                    <a:pt x="3411220" y="28575"/>
                    <a:pt x="3411220" y="63627"/>
                  </a:cubicBezTo>
                  <a:lnTo>
                    <a:pt x="3411220" y="732409"/>
                  </a:lnTo>
                  <a:cubicBezTo>
                    <a:pt x="3411220" y="767588"/>
                    <a:pt x="3382645" y="796036"/>
                    <a:pt x="3347593" y="796036"/>
                  </a:cubicBezTo>
                  <a:lnTo>
                    <a:pt x="63627" y="796036"/>
                  </a:lnTo>
                  <a:cubicBezTo>
                    <a:pt x="28575" y="796036"/>
                    <a:pt x="0" y="767461"/>
                    <a:pt x="0" y="732409"/>
                  </a:cubicBezTo>
                  <a:close/>
                </a:path>
              </a:pathLst>
            </a:custGeom>
            <a:solidFill>
              <a:srgbClr val="1CA57A"/>
            </a:solidFill>
            <a:ln w="20955" cap="sq">
              <a:solidFill>
                <a:srgbClr val="1CA57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43902" y="1388554"/>
            <a:ext cx="11748135" cy="7674483"/>
            <a:chOff x="0" y="0"/>
            <a:chExt cx="15664180" cy="102326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664180" cy="10232644"/>
            </a:xfrm>
            <a:custGeom>
              <a:avLst/>
              <a:gdLst/>
              <a:ahLst/>
              <a:cxnLst/>
              <a:rect r="r" b="b" t="t" l="l"/>
              <a:pathLst>
                <a:path h="10232644" w="15664180">
                  <a:moveTo>
                    <a:pt x="0" y="0"/>
                  </a:moveTo>
                  <a:lnTo>
                    <a:pt x="15664180" y="0"/>
                  </a:lnTo>
                  <a:lnTo>
                    <a:pt x="15664180" y="10232644"/>
                  </a:lnTo>
                  <a:lnTo>
                    <a:pt x="0" y="10232644"/>
                  </a:lnTo>
                  <a:close/>
                </a:path>
              </a:pathLst>
            </a:custGeom>
            <a:solidFill>
              <a:srgbClr val="091929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59370" y="1731454"/>
            <a:ext cx="11103483" cy="6920103"/>
            <a:chOff x="0" y="0"/>
            <a:chExt cx="14804644" cy="92268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804644" cy="9226804"/>
            </a:xfrm>
            <a:custGeom>
              <a:avLst/>
              <a:gdLst/>
              <a:ahLst/>
              <a:cxnLst/>
              <a:rect r="r" b="b" t="t" l="l"/>
              <a:pathLst>
                <a:path h="9226804" w="14804644">
                  <a:moveTo>
                    <a:pt x="0" y="0"/>
                  </a:moveTo>
                  <a:lnTo>
                    <a:pt x="14804644" y="0"/>
                  </a:lnTo>
                  <a:lnTo>
                    <a:pt x="14804644" y="9226804"/>
                  </a:lnTo>
                  <a:lnTo>
                    <a:pt x="0" y="9226804"/>
                  </a:lnTo>
                  <a:close/>
                </a:path>
              </a:pathLst>
            </a:custGeom>
            <a:blipFill>
              <a:blip r:embed="rId3"/>
              <a:stretch>
                <a:fillRect l="-255" t="0" r="-255" b="0"/>
              </a:stretch>
            </a:blipFill>
            <a:ln w="20955" cap="sq">
              <a:solidFill>
                <a:srgbClr val="40657E"/>
              </a:solidFill>
              <a:prstDash val="solid"/>
              <a:miter/>
            </a:ln>
          </p:spPr>
        </p:sp>
      </p:grpSp>
      <p:sp>
        <p:nvSpPr>
          <p:cNvPr name="AutoShape 14" id="14"/>
          <p:cNvSpPr/>
          <p:nvPr/>
        </p:nvSpPr>
        <p:spPr>
          <a:xfrm rot="4500">
            <a:off x="1502092" y="2121217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4500">
            <a:off x="1502092" y="2807017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4500">
            <a:off x="1502092" y="3492817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4500">
            <a:off x="1502092" y="4178617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4500">
            <a:off x="1502092" y="4864418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4500">
            <a:off x="1502092" y="5550218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4500">
            <a:off x="1502092" y="6236018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4500">
            <a:off x="1502092" y="6921818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4500">
            <a:off x="1502092" y="7607618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2813982" y="1388554"/>
            <a:ext cx="4684395" cy="953643"/>
            <a:chOff x="0" y="0"/>
            <a:chExt cx="6245860" cy="12715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45860" cy="1271524"/>
            </a:xfrm>
            <a:custGeom>
              <a:avLst/>
              <a:gdLst/>
              <a:ahLst/>
              <a:cxnLst/>
              <a:rect r="r" b="b" t="t" l="l"/>
              <a:pathLst>
                <a:path h="1271524" w="6245860">
                  <a:moveTo>
                    <a:pt x="0" y="101727"/>
                  </a:moveTo>
                  <a:cubicBezTo>
                    <a:pt x="0" y="45593"/>
                    <a:pt x="45593" y="0"/>
                    <a:pt x="101727" y="0"/>
                  </a:cubicBezTo>
                  <a:lnTo>
                    <a:pt x="6144133" y="0"/>
                  </a:lnTo>
                  <a:cubicBezTo>
                    <a:pt x="6200267" y="0"/>
                    <a:pt x="6245860" y="45593"/>
                    <a:pt x="6245860" y="101727"/>
                  </a:cubicBezTo>
                  <a:lnTo>
                    <a:pt x="6245860" y="1169797"/>
                  </a:lnTo>
                  <a:cubicBezTo>
                    <a:pt x="6245860" y="1225931"/>
                    <a:pt x="6200267" y="1271524"/>
                    <a:pt x="6144133" y="1271524"/>
                  </a:cubicBezTo>
                  <a:lnTo>
                    <a:pt x="101727" y="1271524"/>
                  </a:lnTo>
                  <a:cubicBezTo>
                    <a:pt x="45593" y="1271524"/>
                    <a:pt x="0" y="1225931"/>
                    <a:pt x="0" y="1169797"/>
                  </a:cubicBezTo>
                  <a:close/>
                </a:path>
              </a:pathLst>
            </a:custGeom>
            <a:solidFill>
              <a:srgbClr val="0D283E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813982" y="1388554"/>
            <a:ext cx="130683" cy="953643"/>
            <a:chOff x="0" y="0"/>
            <a:chExt cx="174244" cy="12715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4244" cy="1271524"/>
            </a:xfrm>
            <a:custGeom>
              <a:avLst/>
              <a:gdLst/>
              <a:ahLst/>
              <a:cxnLst/>
              <a:rect r="r" b="b" t="t" l="l"/>
              <a:pathLst>
                <a:path h="1271524" w="174244">
                  <a:moveTo>
                    <a:pt x="0" y="0"/>
                  </a:moveTo>
                  <a:lnTo>
                    <a:pt x="174244" y="0"/>
                  </a:lnTo>
                  <a:lnTo>
                    <a:pt x="174244" y="1271524"/>
                  </a:lnTo>
                  <a:lnTo>
                    <a:pt x="0" y="127152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1CA57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813982" y="2595562"/>
            <a:ext cx="4684395" cy="953643"/>
            <a:chOff x="0" y="0"/>
            <a:chExt cx="6245860" cy="12715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45860" cy="1271524"/>
            </a:xfrm>
            <a:custGeom>
              <a:avLst/>
              <a:gdLst/>
              <a:ahLst/>
              <a:cxnLst/>
              <a:rect r="r" b="b" t="t" l="l"/>
              <a:pathLst>
                <a:path h="1271524" w="6245860">
                  <a:moveTo>
                    <a:pt x="0" y="101727"/>
                  </a:moveTo>
                  <a:cubicBezTo>
                    <a:pt x="0" y="45593"/>
                    <a:pt x="45593" y="0"/>
                    <a:pt x="101727" y="0"/>
                  </a:cubicBezTo>
                  <a:lnTo>
                    <a:pt x="6144133" y="0"/>
                  </a:lnTo>
                  <a:cubicBezTo>
                    <a:pt x="6200267" y="0"/>
                    <a:pt x="6245860" y="45593"/>
                    <a:pt x="6245860" y="101727"/>
                  </a:cubicBezTo>
                  <a:lnTo>
                    <a:pt x="6245860" y="1169797"/>
                  </a:lnTo>
                  <a:cubicBezTo>
                    <a:pt x="6245860" y="1225931"/>
                    <a:pt x="6200267" y="1271524"/>
                    <a:pt x="6144133" y="1271524"/>
                  </a:cubicBezTo>
                  <a:lnTo>
                    <a:pt x="101727" y="1271524"/>
                  </a:lnTo>
                  <a:cubicBezTo>
                    <a:pt x="45593" y="1271524"/>
                    <a:pt x="0" y="1225931"/>
                    <a:pt x="0" y="1169797"/>
                  </a:cubicBezTo>
                  <a:close/>
                </a:path>
              </a:pathLst>
            </a:custGeom>
            <a:solidFill>
              <a:srgbClr val="0D283E"/>
            </a:solidFill>
            <a:ln w="20955" cap="sq">
              <a:solidFill>
                <a:srgbClr val="1380BE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813982" y="2595562"/>
            <a:ext cx="130683" cy="953643"/>
            <a:chOff x="0" y="0"/>
            <a:chExt cx="174244" cy="12715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4244" cy="1271524"/>
            </a:xfrm>
            <a:custGeom>
              <a:avLst/>
              <a:gdLst/>
              <a:ahLst/>
              <a:cxnLst/>
              <a:rect r="r" b="b" t="t" l="l"/>
              <a:pathLst>
                <a:path h="1271524" w="174244">
                  <a:moveTo>
                    <a:pt x="0" y="0"/>
                  </a:moveTo>
                  <a:lnTo>
                    <a:pt x="174244" y="0"/>
                  </a:lnTo>
                  <a:lnTo>
                    <a:pt x="174244" y="1271524"/>
                  </a:lnTo>
                  <a:lnTo>
                    <a:pt x="0" y="127152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813982" y="3802571"/>
            <a:ext cx="4684395" cy="953643"/>
            <a:chOff x="0" y="0"/>
            <a:chExt cx="6245860" cy="127152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45860" cy="1271524"/>
            </a:xfrm>
            <a:custGeom>
              <a:avLst/>
              <a:gdLst/>
              <a:ahLst/>
              <a:cxnLst/>
              <a:rect r="r" b="b" t="t" l="l"/>
              <a:pathLst>
                <a:path h="1271524" w="6245860">
                  <a:moveTo>
                    <a:pt x="0" y="101727"/>
                  </a:moveTo>
                  <a:cubicBezTo>
                    <a:pt x="0" y="45593"/>
                    <a:pt x="45593" y="0"/>
                    <a:pt x="101727" y="0"/>
                  </a:cubicBezTo>
                  <a:lnTo>
                    <a:pt x="6144133" y="0"/>
                  </a:lnTo>
                  <a:cubicBezTo>
                    <a:pt x="6200267" y="0"/>
                    <a:pt x="6245860" y="45593"/>
                    <a:pt x="6245860" y="101727"/>
                  </a:cubicBezTo>
                  <a:lnTo>
                    <a:pt x="6245860" y="1169797"/>
                  </a:lnTo>
                  <a:cubicBezTo>
                    <a:pt x="6245860" y="1225931"/>
                    <a:pt x="6200267" y="1271524"/>
                    <a:pt x="6144133" y="1271524"/>
                  </a:cubicBezTo>
                  <a:lnTo>
                    <a:pt x="101727" y="1271524"/>
                  </a:lnTo>
                  <a:cubicBezTo>
                    <a:pt x="45593" y="1271524"/>
                    <a:pt x="0" y="1225931"/>
                    <a:pt x="0" y="1169797"/>
                  </a:cubicBezTo>
                  <a:close/>
                </a:path>
              </a:pathLst>
            </a:custGeom>
            <a:solidFill>
              <a:srgbClr val="0D283E"/>
            </a:solidFill>
            <a:ln w="20955" cap="sq">
              <a:solidFill>
                <a:srgbClr val="1380BE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813982" y="3802571"/>
            <a:ext cx="130683" cy="953643"/>
            <a:chOff x="0" y="0"/>
            <a:chExt cx="174244" cy="12715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4244" cy="1271524"/>
            </a:xfrm>
            <a:custGeom>
              <a:avLst/>
              <a:gdLst/>
              <a:ahLst/>
              <a:cxnLst/>
              <a:rect r="r" b="b" t="t" l="l"/>
              <a:pathLst>
                <a:path h="1271524" w="174244">
                  <a:moveTo>
                    <a:pt x="0" y="0"/>
                  </a:moveTo>
                  <a:lnTo>
                    <a:pt x="174244" y="0"/>
                  </a:lnTo>
                  <a:lnTo>
                    <a:pt x="174244" y="1271524"/>
                  </a:lnTo>
                  <a:lnTo>
                    <a:pt x="0" y="127152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813982" y="5009579"/>
            <a:ext cx="4684395" cy="953643"/>
            <a:chOff x="0" y="0"/>
            <a:chExt cx="6245860" cy="12715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245860" cy="1271524"/>
            </a:xfrm>
            <a:custGeom>
              <a:avLst/>
              <a:gdLst/>
              <a:ahLst/>
              <a:cxnLst/>
              <a:rect r="r" b="b" t="t" l="l"/>
              <a:pathLst>
                <a:path h="1271524" w="6245860">
                  <a:moveTo>
                    <a:pt x="0" y="101727"/>
                  </a:moveTo>
                  <a:cubicBezTo>
                    <a:pt x="0" y="45593"/>
                    <a:pt x="45593" y="0"/>
                    <a:pt x="101727" y="0"/>
                  </a:cubicBezTo>
                  <a:lnTo>
                    <a:pt x="6144133" y="0"/>
                  </a:lnTo>
                  <a:cubicBezTo>
                    <a:pt x="6200267" y="0"/>
                    <a:pt x="6245860" y="45593"/>
                    <a:pt x="6245860" y="101727"/>
                  </a:cubicBezTo>
                  <a:lnTo>
                    <a:pt x="6245860" y="1169797"/>
                  </a:lnTo>
                  <a:cubicBezTo>
                    <a:pt x="6245860" y="1225931"/>
                    <a:pt x="6200267" y="1271524"/>
                    <a:pt x="6144133" y="1271524"/>
                  </a:cubicBezTo>
                  <a:lnTo>
                    <a:pt x="101727" y="1271524"/>
                  </a:lnTo>
                  <a:cubicBezTo>
                    <a:pt x="45593" y="1271524"/>
                    <a:pt x="0" y="1225931"/>
                    <a:pt x="0" y="1169797"/>
                  </a:cubicBezTo>
                  <a:close/>
                </a:path>
              </a:pathLst>
            </a:custGeom>
            <a:solidFill>
              <a:srgbClr val="0D283E"/>
            </a:solidFill>
            <a:ln w="20955" cap="sq">
              <a:solidFill>
                <a:srgbClr val="1380BE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813982" y="5009579"/>
            <a:ext cx="130683" cy="953643"/>
            <a:chOff x="0" y="0"/>
            <a:chExt cx="174244" cy="127152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4244" cy="1271524"/>
            </a:xfrm>
            <a:custGeom>
              <a:avLst/>
              <a:gdLst/>
              <a:ahLst/>
              <a:cxnLst/>
              <a:rect r="r" b="b" t="t" l="l"/>
              <a:pathLst>
                <a:path h="1271524" w="174244">
                  <a:moveTo>
                    <a:pt x="0" y="0"/>
                  </a:moveTo>
                  <a:lnTo>
                    <a:pt x="174244" y="0"/>
                  </a:lnTo>
                  <a:lnTo>
                    <a:pt x="174244" y="1271524"/>
                  </a:lnTo>
                  <a:lnTo>
                    <a:pt x="0" y="127152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813982" y="6216586"/>
            <a:ext cx="4684395" cy="953643"/>
            <a:chOff x="0" y="0"/>
            <a:chExt cx="6245860" cy="12715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45860" cy="1271524"/>
            </a:xfrm>
            <a:custGeom>
              <a:avLst/>
              <a:gdLst/>
              <a:ahLst/>
              <a:cxnLst/>
              <a:rect r="r" b="b" t="t" l="l"/>
              <a:pathLst>
                <a:path h="1271524" w="6245860">
                  <a:moveTo>
                    <a:pt x="0" y="101727"/>
                  </a:moveTo>
                  <a:cubicBezTo>
                    <a:pt x="0" y="45593"/>
                    <a:pt x="45593" y="0"/>
                    <a:pt x="101727" y="0"/>
                  </a:cubicBezTo>
                  <a:lnTo>
                    <a:pt x="6144133" y="0"/>
                  </a:lnTo>
                  <a:cubicBezTo>
                    <a:pt x="6200267" y="0"/>
                    <a:pt x="6245860" y="45593"/>
                    <a:pt x="6245860" y="101727"/>
                  </a:cubicBezTo>
                  <a:lnTo>
                    <a:pt x="6245860" y="1169797"/>
                  </a:lnTo>
                  <a:cubicBezTo>
                    <a:pt x="6245860" y="1225931"/>
                    <a:pt x="6200267" y="1271524"/>
                    <a:pt x="6144133" y="1271524"/>
                  </a:cubicBezTo>
                  <a:lnTo>
                    <a:pt x="101727" y="1271524"/>
                  </a:lnTo>
                  <a:cubicBezTo>
                    <a:pt x="45593" y="1271524"/>
                    <a:pt x="0" y="1225931"/>
                    <a:pt x="0" y="1169797"/>
                  </a:cubicBezTo>
                  <a:close/>
                </a:path>
              </a:pathLst>
            </a:custGeom>
            <a:solidFill>
              <a:srgbClr val="0D283E"/>
            </a:solidFill>
            <a:ln w="20955" cap="sq">
              <a:solidFill>
                <a:srgbClr val="1380BE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813982" y="6216586"/>
            <a:ext cx="130683" cy="953643"/>
            <a:chOff x="0" y="0"/>
            <a:chExt cx="174244" cy="127152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4244" cy="1271524"/>
            </a:xfrm>
            <a:custGeom>
              <a:avLst/>
              <a:gdLst/>
              <a:ahLst/>
              <a:cxnLst/>
              <a:rect r="r" b="b" t="t" l="l"/>
              <a:pathLst>
                <a:path h="1271524" w="174244">
                  <a:moveTo>
                    <a:pt x="0" y="0"/>
                  </a:moveTo>
                  <a:lnTo>
                    <a:pt x="174244" y="0"/>
                  </a:lnTo>
                  <a:lnTo>
                    <a:pt x="174244" y="1271524"/>
                  </a:lnTo>
                  <a:lnTo>
                    <a:pt x="0" y="127152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813982" y="7423594"/>
            <a:ext cx="4684395" cy="953643"/>
            <a:chOff x="0" y="0"/>
            <a:chExt cx="6245860" cy="127152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245860" cy="1271524"/>
            </a:xfrm>
            <a:custGeom>
              <a:avLst/>
              <a:gdLst/>
              <a:ahLst/>
              <a:cxnLst/>
              <a:rect r="r" b="b" t="t" l="l"/>
              <a:pathLst>
                <a:path h="1271524" w="6245860">
                  <a:moveTo>
                    <a:pt x="0" y="101727"/>
                  </a:moveTo>
                  <a:cubicBezTo>
                    <a:pt x="0" y="45593"/>
                    <a:pt x="45593" y="0"/>
                    <a:pt x="101727" y="0"/>
                  </a:cubicBezTo>
                  <a:lnTo>
                    <a:pt x="6144133" y="0"/>
                  </a:lnTo>
                  <a:cubicBezTo>
                    <a:pt x="6200267" y="0"/>
                    <a:pt x="6245860" y="45593"/>
                    <a:pt x="6245860" y="101727"/>
                  </a:cubicBezTo>
                  <a:lnTo>
                    <a:pt x="6245860" y="1169797"/>
                  </a:lnTo>
                  <a:cubicBezTo>
                    <a:pt x="6245860" y="1225931"/>
                    <a:pt x="6200267" y="1271524"/>
                    <a:pt x="6144133" y="1271524"/>
                  </a:cubicBezTo>
                  <a:lnTo>
                    <a:pt x="101727" y="1271524"/>
                  </a:lnTo>
                  <a:cubicBezTo>
                    <a:pt x="45593" y="1271524"/>
                    <a:pt x="0" y="1225931"/>
                    <a:pt x="0" y="1169797"/>
                  </a:cubicBezTo>
                  <a:close/>
                </a:path>
              </a:pathLst>
            </a:custGeom>
            <a:solidFill>
              <a:srgbClr val="0D283E"/>
            </a:solidFill>
            <a:ln w="20955" cap="sq">
              <a:solidFill>
                <a:srgbClr val="1380BE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813982" y="7423594"/>
            <a:ext cx="130683" cy="953643"/>
            <a:chOff x="0" y="0"/>
            <a:chExt cx="174244" cy="127152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4244" cy="1271524"/>
            </a:xfrm>
            <a:custGeom>
              <a:avLst/>
              <a:gdLst/>
              <a:ahLst/>
              <a:cxnLst/>
              <a:rect r="r" b="b" t="t" l="l"/>
              <a:pathLst>
                <a:path h="1271524" w="174244">
                  <a:moveTo>
                    <a:pt x="0" y="0"/>
                  </a:moveTo>
                  <a:lnTo>
                    <a:pt x="174244" y="0"/>
                  </a:lnTo>
                  <a:lnTo>
                    <a:pt x="174244" y="1271524"/>
                  </a:lnTo>
                  <a:lnTo>
                    <a:pt x="0" y="127152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-10478" y="9974770"/>
            <a:ext cx="18308498" cy="322707"/>
            <a:chOff x="0" y="0"/>
            <a:chExt cx="24411330" cy="43027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4411305" cy="430276"/>
            </a:xfrm>
            <a:custGeom>
              <a:avLst/>
              <a:gdLst/>
              <a:ahLst/>
              <a:cxnLst/>
              <a:rect r="r" b="b" t="t" l="l"/>
              <a:pathLst>
                <a:path h="430276" w="24411305">
                  <a:moveTo>
                    <a:pt x="0" y="0"/>
                  </a:moveTo>
                  <a:lnTo>
                    <a:pt x="24411305" y="0"/>
                  </a:lnTo>
                  <a:lnTo>
                    <a:pt x="24411305" y="430276"/>
                  </a:lnTo>
                  <a:lnTo>
                    <a:pt x="0" y="430276"/>
                  </a:lnTo>
                  <a:close/>
                </a:path>
              </a:pathLst>
            </a:custGeom>
            <a:solidFill>
              <a:srgbClr val="0C2438"/>
            </a:solidFill>
            <a:ln w="20955" cap="sq">
              <a:solidFill>
                <a:srgbClr val="0C2438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754380" y="178308"/>
            <a:ext cx="7680960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POWER BI DASHBOARD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54380" y="672084"/>
            <a:ext cx="8915400" cy="257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9"/>
              </a:lnSpc>
            </a:pPr>
            <a:r>
              <a:rPr lang="en-US" sz="1724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Microsoft Power BI  |  Power Query • DAX • Data Modeling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128748" y="292227"/>
            <a:ext cx="2304288" cy="25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MICROSOFT POWER BI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139928" y="1563624"/>
            <a:ext cx="404622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KPI DASHBOARD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139928" y="1869567"/>
            <a:ext cx="4046220" cy="2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Total Sales • Profit • Orders • Margin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139928" y="2770632"/>
            <a:ext cx="404622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YEAR-WISE SALES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139928" y="3076575"/>
            <a:ext cx="4046220" cy="2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Annual Sales Performance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139928" y="3977640"/>
            <a:ext cx="404622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REGIONAL PERFORMANCE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139928" y="4283583"/>
            <a:ext cx="4046220" cy="2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Sales by Region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139928" y="5184648"/>
            <a:ext cx="4046220" cy="23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QUARTER-WISE SALES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139928" y="5500116"/>
            <a:ext cx="4046220" cy="19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AFC5D6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Quarter Sales Performance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139928" y="6391656"/>
            <a:ext cx="404622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TOP 10 PRODUCTS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139928" y="6697599"/>
            <a:ext cx="4046220" cy="2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Product Performance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139928" y="7598664"/>
            <a:ext cx="404622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SALES VS PROD COST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139928" y="7904607"/>
            <a:ext cx="4046220" cy="2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Sales Amount vs Production Cost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467618" y="9358503"/>
            <a:ext cx="11307045" cy="314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9"/>
              </a:lnSpc>
            </a:pPr>
            <a:r>
              <a:rPr lang="en-US" sz="2024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Power BI workflow: Power Query → Data Model → DAX → Interactive Dashboard → Business Insights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54380" y="9989439"/>
            <a:ext cx="9601200" cy="20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ADVENTURE WORKS • DATA ANALYTICS PROJECT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184880" y="9989439"/>
            <a:ext cx="617220" cy="20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-132418"/>
            <a:ext cx="18304675" cy="10419418"/>
          </a:xfrm>
          <a:custGeom>
            <a:avLst/>
            <a:gdLst/>
            <a:ahLst/>
            <a:cxnLst/>
            <a:rect r="r" b="b" t="t" l="l"/>
            <a:pathLst>
              <a:path h="10419418" w="18304675">
                <a:moveTo>
                  <a:pt x="0" y="0"/>
                </a:moveTo>
                <a:lnTo>
                  <a:pt x="18304675" y="0"/>
                </a:lnTo>
                <a:lnTo>
                  <a:pt x="18304675" y="10419418"/>
                </a:lnTo>
                <a:lnTo>
                  <a:pt x="0" y="10419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2" r="-10839" b="-7442"/>
            </a:stretch>
          </a:blipFill>
        </p:spPr>
      </p:sp>
      <p:sp>
        <p:nvSpPr>
          <p:cNvPr name="AutoShape 4" id="4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5008543" y="154114"/>
            <a:ext cx="2558415" cy="597027"/>
            <a:chOff x="0" y="0"/>
            <a:chExt cx="3411220" cy="7960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11220" cy="796036"/>
            </a:xfrm>
            <a:custGeom>
              <a:avLst/>
              <a:gdLst/>
              <a:ahLst/>
              <a:cxnLst/>
              <a:rect r="r" b="b" t="t" l="l"/>
              <a:pathLst>
                <a:path h="796036" w="3411220">
                  <a:moveTo>
                    <a:pt x="0" y="63627"/>
                  </a:moveTo>
                  <a:cubicBezTo>
                    <a:pt x="0" y="28575"/>
                    <a:pt x="28575" y="0"/>
                    <a:pt x="63627" y="0"/>
                  </a:cubicBezTo>
                  <a:lnTo>
                    <a:pt x="3347593" y="0"/>
                  </a:lnTo>
                  <a:cubicBezTo>
                    <a:pt x="3382772" y="0"/>
                    <a:pt x="3411220" y="28575"/>
                    <a:pt x="3411220" y="63627"/>
                  </a:cubicBezTo>
                  <a:lnTo>
                    <a:pt x="3411220" y="732409"/>
                  </a:lnTo>
                  <a:cubicBezTo>
                    <a:pt x="3411220" y="767588"/>
                    <a:pt x="3382645" y="796036"/>
                    <a:pt x="3347593" y="796036"/>
                  </a:cubicBezTo>
                  <a:lnTo>
                    <a:pt x="63627" y="796036"/>
                  </a:lnTo>
                  <a:cubicBezTo>
                    <a:pt x="28575" y="796036"/>
                    <a:pt x="0" y="767461"/>
                    <a:pt x="0" y="732409"/>
                  </a:cubicBezTo>
                  <a:close/>
                </a:path>
              </a:pathLst>
            </a:custGeom>
            <a:solidFill>
              <a:srgbClr val="1CA57A"/>
            </a:solidFill>
            <a:ln w="20955" cap="sq">
              <a:solidFill>
                <a:srgbClr val="1CA57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43902" y="1388554"/>
            <a:ext cx="11748135" cy="7674483"/>
            <a:chOff x="0" y="0"/>
            <a:chExt cx="15664180" cy="102326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664180" cy="10232644"/>
            </a:xfrm>
            <a:custGeom>
              <a:avLst/>
              <a:gdLst/>
              <a:ahLst/>
              <a:cxnLst/>
              <a:rect r="r" b="b" t="t" l="l"/>
              <a:pathLst>
                <a:path h="10232644" w="15664180">
                  <a:moveTo>
                    <a:pt x="0" y="0"/>
                  </a:moveTo>
                  <a:lnTo>
                    <a:pt x="15664180" y="0"/>
                  </a:lnTo>
                  <a:lnTo>
                    <a:pt x="15664180" y="10232644"/>
                  </a:lnTo>
                  <a:lnTo>
                    <a:pt x="0" y="10232644"/>
                  </a:lnTo>
                  <a:close/>
                </a:path>
              </a:pathLst>
            </a:custGeom>
            <a:solidFill>
              <a:srgbClr val="091929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59370" y="1731454"/>
            <a:ext cx="11103483" cy="6920103"/>
            <a:chOff x="0" y="0"/>
            <a:chExt cx="14804644" cy="92268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804644" cy="9226804"/>
            </a:xfrm>
            <a:custGeom>
              <a:avLst/>
              <a:gdLst/>
              <a:ahLst/>
              <a:cxnLst/>
              <a:rect r="r" b="b" t="t" l="l"/>
              <a:pathLst>
                <a:path h="9226804" w="14804644">
                  <a:moveTo>
                    <a:pt x="0" y="0"/>
                  </a:moveTo>
                  <a:lnTo>
                    <a:pt x="14804644" y="0"/>
                  </a:lnTo>
                  <a:lnTo>
                    <a:pt x="14804644" y="9226804"/>
                  </a:lnTo>
                  <a:lnTo>
                    <a:pt x="0" y="9226804"/>
                  </a:lnTo>
                  <a:close/>
                </a:path>
              </a:pathLst>
            </a:custGeom>
            <a:solidFill>
              <a:srgbClr val="163043"/>
            </a:solidFill>
            <a:ln w="20955" cap="sq">
              <a:solidFill>
                <a:srgbClr val="40657E"/>
              </a:solidFill>
              <a:prstDash val="solid"/>
              <a:miter/>
            </a:ln>
          </p:spPr>
        </p:sp>
      </p:grpSp>
      <p:sp>
        <p:nvSpPr>
          <p:cNvPr name="AutoShape 14" id="14"/>
          <p:cNvSpPr/>
          <p:nvPr/>
        </p:nvSpPr>
        <p:spPr>
          <a:xfrm rot="4500">
            <a:off x="1502092" y="2121217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4500">
            <a:off x="1502092" y="2807017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4500">
            <a:off x="1502092" y="3492817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4500">
            <a:off x="1502092" y="4178617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4500">
            <a:off x="1502092" y="4864418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4500">
            <a:off x="1502092" y="5550218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4500">
            <a:off x="1502092" y="6236018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4500">
            <a:off x="1502092" y="6921818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4500">
            <a:off x="1502092" y="7607618"/>
            <a:ext cx="10218049" cy="0"/>
          </a:xfrm>
          <a:prstGeom prst="line">
            <a:avLst/>
          </a:prstGeom>
          <a:ln cap="rnd" w="9525">
            <a:solidFill>
              <a:srgbClr val="2A46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2813982" y="1388554"/>
            <a:ext cx="4684395" cy="953643"/>
            <a:chOff x="0" y="0"/>
            <a:chExt cx="6245860" cy="12715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45860" cy="1271524"/>
            </a:xfrm>
            <a:custGeom>
              <a:avLst/>
              <a:gdLst/>
              <a:ahLst/>
              <a:cxnLst/>
              <a:rect r="r" b="b" t="t" l="l"/>
              <a:pathLst>
                <a:path h="1271524" w="6245860">
                  <a:moveTo>
                    <a:pt x="0" y="101727"/>
                  </a:moveTo>
                  <a:cubicBezTo>
                    <a:pt x="0" y="45593"/>
                    <a:pt x="45593" y="0"/>
                    <a:pt x="101727" y="0"/>
                  </a:cubicBezTo>
                  <a:lnTo>
                    <a:pt x="6144133" y="0"/>
                  </a:lnTo>
                  <a:cubicBezTo>
                    <a:pt x="6200267" y="0"/>
                    <a:pt x="6245860" y="45593"/>
                    <a:pt x="6245860" y="101727"/>
                  </a:cubicBezTo>
                  <a:lnTo>
                    <a:pt x="6245860" y="1169797"/>
                  </a:lnTo>
                  <a:cubicBezTo>
                    <a:pt x="6245860" y="1225931"/>
                    <a:pt x="6200267" y="1271524"/>
                    <a:pt x="6144133" y="1271524"/>
                  </a:cubicBezTo>
                  <a:lnTo>
                    <a:pt x="101727" y="1271524"/>
                  </a:lnTo>
                  <a:cubicBezTo>
                    <a:pt x="45593" y="1271524"/>
                    <a:pt x="0" y="1225931"/>
                    <a:pt x="0" y="1169797"/>
                  </a:cubicBezTo>
                  <a:close/>
                </a:path>
              </a:pathLst>
            </a:custGeom>
            <a:solidFill>
              <a:srgbClr val="0D283E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813982" y="1388554"/>
            <a:ext cx="130683" cy="953643"/>
            <a:chOff x="0" y="0"/>
            <a:chExt cx="174244" cy="12715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4244" cy="1271524"/>
            </a:xfrm>
            <a:custGeom>
              <a:avLst/>
              <a:gdLst/>
              <a:ahLst/>
              <a:cxnLst/>
              <a:rect r="r" b="b" t="t" l="l"/>
              <a:pathLst>
                <a:path h="1271524" w="174244">
                  <a:moveTo>
                    <a:pt x="0" y="0"/>
                  </a:moveTo>
                  <a:lnTo>
                    <a:pt x="174244" y="0"/>
                  </a:lnTo>
                  <a:lnTo>
                    <a:pt x="174244" y="1271524"/>
                  </a:lnTo>
                  <a:lnTo>
                    <a:pt x="0" y="127152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1CA57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813982" y="2595562"/>
            <a:ext cx="4684395" cy="953643"/>
            <a:chOff x="0" y="0"/>
            <a:chExt cx="6245860" cy="12715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45860" cy="1271524"/>
            </a:xfrm>
            <a:custGeom>
              <a:avLst/>
              <a:gdLst/>
              <a:ahLst/>
              <a:cxnLst/>
              <a:rect r="r" b="b" t="t" l="l"/>
              <a:pathLst>
                <a:path h="1271524" w="6245860">
                  <a:moveTo>
                    <a:pt x="0" y="101727"/>
                  </a:moveTo>
                  <a:cubicBezTo>
                    <a:pt x="0" y="45593"/>
                    <a:pt x="45593" y="0"/>
                    <a:pt x="101727" y="0"/>
                  </a:cubicBezTo>
                  <a:lnTo>
                    <a:pt x="6144133" y="0"/>
                  </a:lnTo>
                  <a:cubicBezTo>
                    <a:pt x="6200267" y="0"/>
                    <a:pt x="6245860" y="45593"/>
                    <a:pt x="6245860" y="101727"/>
                  </a:cubicBezTo>
                  <a:lnTo>
                    <a:pt x="6245860" y="1169797"/>
                  </a:lnTo>
                  <a:cubicBezTo>
                    <a:pt x="6245860" y="1225931"/>
                    <a:pt x="6200267" y="1271524"/>
                    <a:pt x="6144133" y="1271524"/>
                  </a:cubicBezTo>
                  <a:lnTo>
                    <a:pt x="101727" y="1271524"/>
                  </a:lnTo>
                  <a:cubicBezTo>
                    <a:pt x="45593" y="1271524"/>
                    <a:pt x="0" y="1225931"/>
                    <a:pt x="0" y="1169797"/>
                  </a:cubicBezTo>
                  <a:close/>
                </a:path>
              </a:pathLst>
            </a:custGeom>
            <a:solidFill>
              <a:srgbClr val="0D283E"/>
            </a:solidFill>
            <a:ln w="20955" cap="sq">
              <a:solidFill>
                <a:srgbClr val="1380BE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813982" y="2595562"/>
            <a:ext cx="130683" cy="953643"/>
            <a:chOff x="0" y="0"/>
            <a:chExt cx="174244" cy="12715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4244" cy="1271524"/>
            </a:xfrm>
            <a:custGeom>
              <a:avLst/>
              <a:gdLst/>
              <a:ahLst/>
              <a:cxnLst/>
              <a:rect r="r" b="b" t="t" l="l"/>
              <a:pathLst>
                <a:path h="1271524" w="174244">
                  <a:moveTo>
                    <a:pt x="0" y="0"/>
                  </a:moveTo>
                  <a:lnTo>
                    <a:pt x="174244" y="0"/>
                  </a:lnTo>
                  <a:lnTo>
                    <a:pt x="174244" y="1271524"/>
                  </a:lnTo>
                  <a:lnTo>
                    <a:pt x="0" y="127152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813982" y="3802571"/>
            <a:ext cx="4684395" cy="953643"/>
            <a:chOff x="0" y="0"/>
            <a:chExt cx="6245860" cy="127152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45860" cy="1271524"/>
            </a:xfrm>
            <a:custGeom>
              <a:avLst/>
              <a:gdLst/>
              <a:ahLst/>
              <a:cxnLst/>
              <a:rect r="r" b="b" t="t" l="l"/>
              <a:pathLst>
                <a:path h="1271524" w="6245860">
                  <a:moveTo>
                    <a:pt x="0" y="101727"/>
                  </a:moveTo>
                  <a:cubicBezTo>
                    <a:pt x="0" y="45593"/>
                    <a:pt x="45593" y="0"/>
                    <a:pt x="101727" y="0"/>
                  </a:cubicBezTo>
                  <a:lnTo>
                    <a:pt x="6144133" y="0"/>
                  </a:lnTo>
                  <a:cubicBezTo>
                    <a:pt x="6200267" y="0"/>
                    <a:pt x="6245860" y="45593"/>
                    <a:pt x="6245860" y="101727"/>
                  </a:cubicBezTo>
                  <a:lnTo>
                    <a:pt x="6245860" y="1169797"/>
                  </a:lnTo>
                  <a:cubicBezTo>
                    <a:pt x="6245860" y="1225931"/>
                    <a:pt x="6200267" y="1271524"/>
                    <a:pt x="6144133" y="1271524"/>
                  </a:cubicBezTo>
                  <a:lnTo>
                    <a:pt x="101727" y="1271524"/>
                  </a:lnTo>
                  <a:cubicBezTo>
                    <a:pt x="45593" y="1271524"/>
                    <a:pt x="0" y="1225931"/>
                    <a:pt x="0" y="1169797"/>
                  </a:cubicBezTo>
                  <a:close/>
                </a:path>
              </a:pathLst>
            </a:custGeom>
            <a:solidFill>
              <a:srgbClr val="0D283E"/>
            </a:solidFill>
            <a:ln w="20955" cap="sq">
              <a:solidFill>
                <a:srgbClr val="1380BE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813982" y="3802571"/>
            <a:ext cx="130683" cy="953643"/>
            <a:chOff x="0" y="0"/>
            <a:chExt cx="174244" cy="12715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4244" cy="1271524"/>
            </a:xfrm>
            <a:custGeom>
              <a:avLst/>
              <a:gdLst/>
              <a:ahLst/>
              <a:cxnLst/>
              <a:rect r="r" b="b" t="t" l="l"/>
              <a:pathLst>
                <a:path h="1271524" w="174244">
                  <a:moveTo>
                    <a:pt x="0" y="0"/>
                  </a:moveTo>
                  <a:lnTo>
                    <a:pt x="174244" y="0"/>
                  </a:lnTo>
                  <a:lnTo>
                    <a:pt x="174244" y="1271524"/>
                  </a:lnTo>
                  <a:lnTo>
                    <a:pt x="0" y="127152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813982" y="5009579"/>
            <a:ext cx="4684395" cy="953643"/>
            <a:chOff x="0" y="0"/>
            <a:chExt cx="6245860" cy="12715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245860" cy="1271524"/>
            </a:xfrm>
            <a:custGeom>
              <a:avLst/>
              <a:gdLst/>
              <a:ahLst/>
              <a:cxnLst/>
              <a:rect r="r" b="b" t="t" l="l"/>
              <a:pathLst>
                <a:path h="1271524" w="6245860">
                  <a:moveTo>
                    <a:pt x="0" y="101727"/>
                  </a:moveTo>
                  <a:cubicBezTo>
                    <a:pt x="0" y="45593"/>
                    <a:pt x="45593" y="0"/>
                    <a:pt x="101727" y="0"/>
                  </a:cubicBezTo>
                  <a:lnTo>
                    <a:pt x="6144133" y="0"/>
                  </a:lnTo>
                  <a:cubicBezTo>
                    <a:pt x="6200267" y="0"/>
                    <a:pt x="6245860" y="45593"/>
                    <a:pt x="6245860" y="101727"/>
                  </a:cubicBezTo>
                  <a:lnTo>
                    <a:pt x="6245860" y="1169797"/>
                  </a:lnTo>
                  <a:cubicBezTo>
                    <a:pt x="6245860" y="1225931"/>
                    <a:pt x="6200267" y="1271524"/>
                    <a:pt x="6144133" y="1271524"/>
                  </a:cubicBezTo>
                  <a:lnTo>
                    <a:pt x="101727" y="1271524"/>
                  </a:lnTo>
                  <a:cubicBezTo>
                    <a:pt x="45593" y="1271524"/>
                    <a:pt x="0" y="1225931"/>
                    <a:pt x="0" y="1169797"/>
                  </a:cubicBezTo>
                  <a:close/>
                </a:path>
              </a:pathLst>
            </a:custGeom>
            <a:solidFill>
              <a:srgbClr val="0D283E"/>
            </a:solidFill>
            <a:ln w="20955" cap="sq">
              <a:solidFill>
                <a:srgbClr val="1380BE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813982" y="5009579"/>
            <a:ext cx="130683" cy="953643"/>
            <a:chOff x="0" y="0"/>
            <a:chExt cx="174244" cy="127152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4244" cy="1271524"/>
            </a:xfrm>
            <a:custGeom>
              <a:avLst/>
              <a:gdLst/>
              <a:ahLst/>
              <a:cxnLst/>
              <a:rect r="r" b="b" t="t" l="l"/>
              <a:pathLst>
                <a:path h="1271524" w="174244">
                  <a:moveTo>
                    <a:pt x="0" y="0"/>
                  </a:moveTo>
                  <a:lnTo>
                    <a:pt x="174244" y="0"/>
                  </a:lnTo>
                  <a:lnTo>
                    <a:pt x="174244" y="1271524"/>
                  </a:lnTo>
                  <a:lnTo>
                    <a:pt x="0" y="127152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813982" y="6216586"/>
            <a:ext cx="4684395" cy="953643"/>
            <a:chOff x="0" y="0"/>
            <a:chExt cx="6245860" cy="12715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45860" cy="1271524"/>
            </a:xfrm>
            <a:custGeom>
              <a:avLst/>
              <a:gdLst/>
              <a:ahLst/>
              <a:cxnLst/>
              <a:rect r="r" b="b" t="t" l="l"/>
              <a:pathLst>
                <a:path h="1271524" w="6245860">
                  <a:moveTo>
                    <a:pt x="0" y="101727"/>
                  </a:moveTo>
                  <a:cubicBezTo>
                    <a:pt x="0" y="45593"/>
                    <a:pt x="45593" y="0"/>
                    <a:pt x="101727" y="0"/>
                  </a:cubicBezTo>
                  <a:lnTo>
                    <a:pt x="6144133" y="0"/>
                  </a:lnTo>
                  <a:cubicBezTo>
                    <a:pt x="6200267" y="0"/>
                    <a:pt x="6245860" y="45593"/>
                    <a:pt x="6245860" y="101727"/>
                  </a:cubicBezTo>
                  <a:lnTo>
                    <a:pt x="6245860" y="1169797"/>
                  </a:lnTo>
                  <a:cubicBezTo>
                    <a:pt x="6245860" y="1225931"/>
                    <a:pt x="6200267" y="1271524"/>
                    <a:pt x="6144133" y="1271524"/>
                  </a:cubicBezTo>
                  <a:lnTo>
                    <a:pt x="101727" y="1271524"/>
                  </a:lnTo>
                  <a:cubicBezTo>
                    <a:pt x="45593" y="1271524"/>
                    <a:pt x="0" y="1225931"/>
                    <a:pt x="0" y="1169797"/>
                  </a:cubicBezTo>
                  <a:close/>
                </a:path>
              </a:pathLst>
            </a:custGeom>
            <a:solidFill>
              <a:srgbClr val="0D283E"/>
            </a:solidFill>
            <a:ln w="20955" cap="sq">
              <a:solidFill>
                <a:srgbClr val="1380BE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813982" y="6216586"/>
            <a:ext cx="130683" cy="953643"/>
            <a:chOff x="0" y="0"/>
            <a:chExt cx="174244" cy="127152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4244" cy="1271524"/>
            </a:xfrm>
            <a:custGeom>
              <a:avLst/>
              <a:gdLst/>
              <a:ahLst/>
              <a:cxnLst/>
              <a:rect r="r" b="b" t="t" l="l"/>
              <a:pathLst>
                <a:path h="1271524" w="174244">
                  <a:moveTo>
                    <a:pt x="0" y="0"/>
                  </a:moveTo>
                  <a:lnTo>
                    <a:pt x="174244" y="0"/>
                  </a:lnTo>
                  <a:lnTo>
                    <a:pt x="174244" y="1271524"/>
                  </a:lnTo>
                  <a:lnTo>
                    <a:pt x="0" y="127152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813982" y="7423594"/>
            <a:ext cx="4684395" cy="953643"/>
            <a:chOff x="0" y="0"/>
            <a:chExt cx="6245860" cy="127152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245860" cy="1271524"/>
            </a:xfrm>
            <a:custGeom>
              <a:avLst/>
              <a:gdLst/>
              <a:ahLst/>
              <a:cxnLst/>
              <a:rect r="r" b="b" t="t" l="l"/>
              <a:pathLst>
                <a:path h="1271524" w="6245860">
                  <a:moveTo>
                    <a:pt x="0" y="101727"/>
                  </a:moveTo>
                  <a:cubicBezTo>
                    <a:pt x="0" y="45593"/>
                    <a:pt x="45593" y="0"/>
                    <a:pt x="101727" y="0"/>
                  </a:cubicBezTo>
                  <a:lnTo>
                    <a:pt x="6144133" y="0"/>
                  </a:lnTo>
                  <a:cubicBezTo>
                    <a:pt x="6200267" y="0"/>
                    <a:pt x="6245860" y="45593"/>
                    <a:pt x="6245860" y="101727"/>
                  </a:cubicBezTo>
                  <a:lnTo>
                    <a:pt x="6245860" y="1169797"/>
                  </a:lnTo>
                  <a:cubicBezTo>
                    <a:pt x="6245860" y="1225931"/>
                    <a:pt x="6200267" y="1271524"/>
                    <a:pt x="6144133" y="1271524"/>
                  </a:cubicBezTo>
                  <a:lnTo>
                    <a:pt x="101727" y="1271524"/>
                  </a:lnTo>
                  <a:cubicBezTo>
                    <a:pt x="45593" y="1271524"/>
                    <a:pt x="0" y="1225931"/>
                    <a:pt x="0" y="1169797"/>
                  </a:cubicBezTo>
                  <a:close/>
                </a:path>
              </a:pathLst>
            </a:custGeom>
            <a:solidFill>
              <a:srgbClr val="0D283E"/>
            </a:solidFill>
            <a:ln w="20955" cap="sq">
              <a:solidFill>
                <a:srgbClr val="1380BE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813982" y="7423594"/>
            <a:ext cx="130683" cy="953643"/>
            <a:chOff x="0" y="0"/>
            <a:chExt cx="174244" cy="127152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4244" cy="1271524"/>
            </a:xfrm>
            <a:custGeom>
              <a:avLst/>
              <a:gdLst/>
              <a:ahLst/>
              <a:cxnLst/>
              <a:rect r="r" b="b" t="t" l="l"/>
              <a:pathLst>
                <a:path h="1271524" w="174244">
                  <a:moveTo>
                    <a:pt x="0" y="0"/>
                  </a:moveTo>
                  <a:lnTo>
                    <a:pt x="174244" y="0"/>
                  </a:lnTo>
                  <a:lnTo>
                    <a:pt x="174244" y="1271524"/>
                  </a:lnTo>
                  <a:lnTo>
                    <a:pt x="0" y="1271524"/>
                  </a:lnTo>
                  <a:close/>
                </a:path>
              </a:pathLst>
            </a:custGeom>
            <a:solidFill>
              <a:srgbClr val="32C3F6"/>
            </a:solidFill>
            <a:ln w="20955" cap="sq">
              <a:solidFill>
                <a:srgbClr val="32C3F6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019937" y="1645920"/>
            <a:ext cx="11250006" cy="7129520"/>
            <a:chOff x="0" y="0"/>
            <a:chExt cx="15000008" cy="950602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999970" cy="9506077"/>
            </a:xfrm>
            <a:custGeom>
              <a:avLst/>
              <a:gdLst/>
              <a:ahLst/>
              <a:cxnLst/>
              <a:rect r="r" b="b" t="t" l="l"/>
              <a:pathLst>
                <a:path h="9506077" w="14999970">
                  <a:moveTo>
                    <a:pt x="0" y="0"/>
                  </a:moveTo>
                  <a:lnTo>
                    <a:pt x="14999970" y="0"/>
                  </a:lnTo>
                  <a:lnTo>
                    <a:pt x="14999970" y="9506077"/>
                  </a:lnTo>
                  <a:lnTo>
                    <a:pt x="0" y="9506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" r="0" b="-32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754380" y="178308"/>
            <a:ext cx="7680960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TABLEAU DASHBOARD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54380" y="672084"/>
            <a:ext cx="8915400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Tableau  |  Calculated Fields • Filters • Interactive Visualizations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128748" y="292227"/>
            <a:ext cx="2304288" cy="25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TABLEAU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139928" y="1563624"/>
            <a:ext cx="404622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YEAR-WISE SALES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139928" y="1869567"/>
            <a:ext cx="4046220" cy="2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Sales by Year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139928" y="2770632"/>
            <a:ext cx="404622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MONTH-WISE SALES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139928" y="3076575"/>
            <a:ext cx="4046220" cy="2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Monthly Sales Trend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139928" y="3977640"/>
            <a:ext cx="404622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QUARTER-WISE SALES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139928" y="4283583"/>
            <a:ext cx="4046220" cy="2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Quarter Contribution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139928" y="5184648"/>
            <a:ext cx="4046220" cy="23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SALES VS PRODUCT COST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139928" y="5490591"/>
            <a:ext cx="4046220" cy="20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Monthly Sales and Product Performance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139928" y="6391656"/>
            <a:ext cx="4046220" cy="23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FILTERS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139928" y="6707124"/>
            <a:ext cx="4046220" cy="19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AFC5D6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Year • Region • Month • Quater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139928" y="7598664"/>
            <a:ext cx="404622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REGIONAL SALES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139928" y="7904607"/>
            <a:ext cx="4046220" cy="2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Regional Performance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572461" y="9368028"/>
            <a:ext cx="11097359" cy="285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1924" b="true">
                <a:solidFill>
                  <a:srgbClr val="F5F9FC"/>
                </a:solidFill>
                <a:latin typeface="Aptos Bold"/>
                <a:ea typeface="Aptos Bold"/>
                <a:cs typeface="Aptos Bold"/>
                <a:sym typeface="Aptos Bold"/>
              </a:rPr>
              <a:t>Tableau workflow: Data Preparation → Calculated Fields → Interactive Dashboard → Business Insights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54380" y="9989439"/>
            <a:ext cx="9601200" cy="20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ADVENTURE WORKS • DATA ANALYTICS PROJECT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184880" y="9989439"/>
            <a:ext cx="617220" cy="20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AFC5D6"/>
                </a:solidFill>
                <a:latin typeface="Aptos"/>
                <a:ea typeface="Aptos"/>
                <a:cs typeface="Aptos"/>
                <a:sym typeface="Aptos"/>
              </a:rPr>
              <a:t>2026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04675" cy="10287000"/>
          </a:xfrm>
          <a:custGeom>
            <a:avLst/>
            <a:gdLst/>
            <a:ahLst/>
            <a:cxnLst/>
            <a:rect r="r" b="b" t="t" l="l"/>
            <a:pathLst>
              <a:path h="10287000" w="18304675">
                <a:moveTo>
                  <a:pt x="0" y="0"/>
                </a:moveTo>
                <a:lnTo>
                  <a:pt x="18304675" y="0"/>
                </a:lnTo>
                <a:lnTo>
                  <a:pt x="183046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2000"/>
            </a:blip>
            <a:stretch>
              <a:fillRect l="0" t="-268" r="0" b="-268"/>
            </a:stretch>
          </a:blipFill>
        </p:spPr>
      </p:sp>
      <p:sp>
        <p:nvSpPr>
          <p:cNvPr name="AutoShape 3" id="3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74523" y="1979295"/>
            <a:ext cx="8042910" cy="1034034"/>
            <a:chOff x="0" y="0"/>
            <a:chExt cx="10723880" cy="1378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23880" cy="1378712"/>
            </a:xfrm>
            <a:custGeom>
              <a:avLst/>
              <a:gdLst/>
              <a:ahLst/>
              <a:cxnLst/>
              <a:rect r="r" b="b" t="t" l="l"/>
              <a:pathLst>
                <a:path h="1378712" w="10723880">
                  <a:moveTo>
                    <a:pt x="0" y="0"/>
                  </a:moveTo>
                  <a:lnTo>
                    <a:pt x="10723880" y="0"/>
                  </a:lnTo>
                  <a:lnTo>
                    <a:pt x="10723880" y="1378712"/>
                  </a:lnTo>
                  <a:lnTo>
                    <a:pt x="0" y="1378712"/>
                  </a:lnTo>
                  <a:close/>
                </a:path>
              </a:pathLst>
            </a:custGeom>
            <a:solidFill>
              <a:srgbClr val="17242E"/>
            </a:solidFill>
            <a:ln w="19050" cap="sq">
              <a:solidFill>
                <a:srgbClr val="556C7B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97180" y="1865376"/>
            <a:ext cx="8110728" cy="1620774"/>
            <a:chOff x="0" y="0"/>
            <a:chExt cx="10814304" cy="21610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14304" cy="2161032"/>
            </a:xfrm>
            <a:custGeom>
              <a:avLst/>
              <a:gdLst/>
              <a:ahLst/>
              <a:cxnLst/>
              <a:rect r="r" b="b" t="t" l="l"/>
              <a:pathLst>
                <a:path h="2161032" w="10814304">
                  <a:moveTo>
                    <a:pt x="0" y="0"/>
                  </a:moveTo>
                  <a:lnTo>
                    <a:pt x="10814304" y="0"/>
                  </a:lnTo>
                  <a:lnTo>
                    <a:pt x="10814304" y="2161032"/>
                  </a:lnTo>
                  <a:lnTo>
                    <a:pt x="0" y="2161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0" t="0" r="-7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20040" y="3890391"/>
            <a:ext cx="7786116" cy="27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D2A614"/>
                </a:solidFill>
                <a:latin typeface="Aptos Bold"/>
                <a:ea typeface="Aptos Bold"/>
                <a:cs typeface="Aptos Bold"/>
                <a:sym typeface="Aptos Bold"/>
              </a:rPr>
              <a:t>Q1 — Lookup Product Name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29184" y="4155948"/>
            <a:ext cx="7968996" cy="1618488"/>
            <a:chOff x="0" y="0"/>
            <a:chExt cx="10625328" cy="21579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25328" cy="2157984"/>
            </a:xfrm>
            <a:custGeom>
              <a:avLst/>
              <a:gdLst/>
              <a:ahLst/>
              <a:cxnLst/>
              <a:rect r="r" b="b" t="t" l="l"/>
              <a:pathLst>
                <a:path h="2157984" w="10625328">
                  <a:moveTo>
                    <a:pt x="0" y="0"/>
                  </a:moveTo>
                  <a:lnTo>
                    <a:pt x="10625328" y="0"/>
                  </a:lnTo>
                  <a:lnTo>
                    <a:pt x="10625328" y="2157984"/>
                  </a:lnTo>
                  <a:lnTo>
                    <a:pt x="0" y="2157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8" t="0" r="-28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59486" y="6352413"/>
            <a:ext cx="7786116" cy="27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D2A614"/>
                </a:solidFill>
                <a:latin typeface="Aptos Bold"/>
                <a:ea typeface="Aptos Bold"/>
                <a:cs typeface="Aptos Bold"/>
                <a:sym typeface="Aptos Bold"/>
              </a:rPr>
              <a:t>Q2 — Lookup Customer Name &amp; Unit Price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95478" y="6627114"/>
            <a:ext cx="8023860" cy="2219706"/>
            <a:chOff x="0" y="0"/>
            <a:chExt cx="10698480" cy="29596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98480" cy="2959608"/>
            </a:xfrm>
            <a:custGeom>
              <a:avLst/>
              <a:gdLst/>
              <a:ahLst/>
              <a:cxnLst/>
              <a:rect r="r" b="b" t="t" l="l"/>
              <a:pathLst>
                <a:path h="2959608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2959608"/>
                  </a:lnTo>
                  <a:lnTo>
                    <a:pt x="0" y="2959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" r="0" b="-2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6286" y="7025450"/>
            <a:ext cx="8547354" cy="1787080"/>
            <a:chOff x="0" y="0"/>
            <a:chExt cx="11396472" cy="238277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96472" cy="2382774"/>
            </a:xfrm>
            <a:custGeom>
              <a:avLst/>
              <a:gdLst/>
              <a:ahLst/>
              <a:cxnLst/>
              <a:rect r="r" b="b" t="t" l="l"/>
              <a:pathLst>
                <a:path h="2382774" w="11396472">
                  <a:moveTo>
                    <a:pt x="0" y="0"/>
                  </a:moveTo>
                  <a:lnTo>
                    <a:pt x="11396472" y="0"/>
                  </a:lnTo>
                  <a:lnTo>
                    <a:pt x="11396472" y="2382774"/>
                  </a:lnTo>
                  <a:lnTo>
                    <a:pt x="0" y="2382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0" r="0" b="-13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1714" y="1868424"/>
            <a:ext cx="8551926" cy="3906012"/>
            <a:chOff x="0" y="0"/>
            <a:chExt cx="11402568" cy="52080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402568" cy="5208016"/>
            </a:xfrm>
            <a:custGeom>
              <a:avLst/>
              <a:gdLst/>
              <a:ahLst/>
              <a:cxnLst/>
              <a:rect r="r" b="b" t="t" l="l"/>
              <a:pathLst>
                <a:path h="5208016" w="11402568">
                  <a:moveTo>
                    <a:pt x="0" y="0"/>
                  </a:moveTo>
                  <a:lnTo>
                    <a:pt x="11402568" y="0"/>
                  </a:lnTo>
                  <a:lnTo>
                    <a:pt x="11402568" y="5208016"/>
                  </a:lnTo>
                  <a:lnTo>
                    <a:pt x="0" y="5208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10" r="0" b="-11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85750" y="1586103"/>
            <a:ext cx="7786116" cy="27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D2A614"/>
                </a:solidFill>
                <a:latin typeface="Aptos Bold"/>
                <a:ea typeface="Aptos Bold"/>
                <a:cs typeface="Aptos Bold"/>
                <a:sym typeface="Aptos Bold"/>
              </a:rPr>
              <a:t>Q0 — Union of Both Sales Tables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7512" y="210312"/>
            <a:ext cx="16276320" cy="429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SQL QUERIES — Q0 TO Q6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4944" y="978408"/>
            <a:ext cx="16276320" cy="23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24">
                <a:solidFill>
                  <a:srgbClr val="ADBCC9"/>
                </a:solidFill>
                <a:latin typeface="Aptos"/>
                <a:ea typeface="Aptos"/>
                <a:cs typeface="Aptos"/>
                <a:sym typeface="Aptos"/>
              </a:rPr>
              <a:t>MySQL  |  Data Transformation &amp; Calculated Columns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38844" y="6654546"/>
            <a:ext cx="7786116" cy="276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true">
                <a:solidFill>
                  <a:srgbClr val="D2A614"/>
                </a:solidFill>
                <a:latin typeface="Aptos Bold"/>
                <a:ea typeface="Aptos Bold"/>
                <a:cs typeface="Aptos Bold"/>
                <a:sym typeface="Aptos Bold"/>
              </a:rPr>
              <a:t>Q4 — Sales Amount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29527" y="9723120"/>
            <a:ext cx="7152290" cy="31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9"/>
              </a:lnSpc>
            </a:pPr>
            <a:r>
              <a:rPr lang="en-US" sz="2074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AdventureWorks Cycles  |  Sales Analysis  |  Group - 4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58300" y="1488567"/>
            <a:ext cx="7786116" cy="27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D2A614"/>
                </a:solidFill>
                <a:latin typeface="Aptos Bold"/>
                <a:ea typeface="Aptos Bold"/>
                <a:cs typeface="Aptos Bold"/>
                <a:sym typeface="Aptos Bold"/>
              </a:rPr>
              <a:t>Q3 — Date Columns from OrderDateKey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76782" cy="10287000"/>
          </a:xfrm>
          <a:custGeom>
            <a:avLst/>
            <a:gdLst/>
            <a:ahLst/>
            <a:cxnLst/>
            <a:rect r="r" b="b" t="t" l="l"/>
            <a:pathLst>
              <a:path h="10287000" w="18476782">
                <a:moveTo>
                  <a:pt x="0" y="0"/>
                </a:moveTo>
                <a:lnTo>
                  <a:pt x="18476782" y="0"/>
                </a:lnTo>
                <a:lnTo>
                  <a:pt x="184767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</a:blip>
            <a:stretch>
              <a:fillRect l="0" t="-9721" r="0" b="-9721"/>
            </a:stretch>
          </a:blipFill>
        </p:spPr>
      </p:sp>
      <p:sp>
        <p:nvSpPr>
          <p:cNvPr name="AutoShape 3" id="3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320040" y="3899916"/>
            <a:ext cx="2320690" cy="28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D2A614"/>
                </a:solidFill>
                <a:latin typeface="Aptos Bold"/>
                <a:ea typeface="Aptos Bold"/>
                <a:cs typeface="Aptos Bold"/>
                <a:sym typeface="Aptos Bold"/>
              </a:rPr>
              <a:t>Q6 —  Profit Calculation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68046" y="1913858"/>
            <a:ext cx="8379714" cy="1614488"/>
            <a:chOff x="0" y="0"/>
            <a:chExt cx="11172952" cy="21526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72952" cy="2152650"/>
            </a:xfrm>
            <a:custGeom>
              <a:avLst/>
              <a:gdLst/>
              <a:ahLst/>
              <a:cxnLst/>
              <a:rect r="r" b="b" t="t" l="l"/>
              <a:pathLst>
                <a:path h="2152650" w="11172952">
                  <a:moveTo>
                    <a:pt x="0" y="0"/>
                  </a:moveTo>
                  <a:lnTo>
                    <a:pt x="11172952" y="0"/>
                  </a:lnTo>
                  <a:lnTo>
                    <a:pt x="11172952" y="2152650"/>
                  </a:lnTo>
                  <a:lnTo>
                    <a:pt x="0" y="2152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2" r="0" b="-9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8600" y="4158520"/>
            <a:ext cx="8519160" cy="1890236"/>
            <a:chOff x="0" y="0"/>
            <a:chExt cx="11358880" cy="25203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58880" cy="2520315"/>
            </a:xfrm>
            <a:custGeom>
              <a:avLst/>
              <a:gdLst/>
              <a:ahLst/>
              <a:cxnLst/>
              <a:rect r="r" b="b" t="t" l="l"/>
              <a:pathLst>
                <a:path h="2520315" w="11358880">
                  <a:moveTo>
                    <a:pt x="0" y="0"/>
                  </a:moveTo>
                  <a:lnTo>
                    <a:pt x="11358880" y="0"/>
                  </a:lnTo>
                  <a:lnTo>
                    <a:pt x="11358880" y="2520315"/>
                  </a:lnTo>
                  <a:lnTo>
                    <a:pt x="0" y="2520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0" r="0" b="-5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68046" y="6998018"/>
            <a:ext cx="8379714" cy="2070259"/>
            <a:chOff x="0" y="0"/>
            <a:chExt cx="11172952" cy="27603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172952" cy="2760345"/>
            </a:xfrm>
            <a:custGeom>
              <a:avLst/>
              <a:gdLst/>
              <a:ahLst/>
              <a:cxnLst/>
              <a:rect r="r" b="b" t="t" l="l"/>
              <a:pathLst>
                <a:path h="2760345" w="11172952">
                  <a:moveTo>
                    <a:pt x="0" y="0"/>
                  </a:moveTo>
                  <a:lnTo>
                    <a:pt x="11172952" y="0"/>
                  </a:lnTo>
                  <a:lnTo>
                    <a:pt x="11172952" y="2760345"/>
                  </a:lnTo>
                  <a:lnTo>
                    <a:pt x="0" y="2760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9" r="0" b="-99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518856" y="1824285"/>
            <a:ext cx="8218951" cy="1673066"/>
            <a:chOff x="0" y="0"/>
            <a:chExt cx="10958601" cy="22307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58576" cy="2230755"/>
            </a:xfrm>
            <a:custGeom>
              <a:avLst/>
              <a:gdLst/>
              <a:ahLst/>
              <a:cxnLst/>
              <a:rect r="r" b="b" t="t" l="l"/>
              <a:pathLst>
                <a:path h="2230755" w="10958576">
                  <a:moveTo>
                    <a:pt x="0" y="0"/>
                  </a:moveTo>
                  <a:lnTo>
                    <a:pt x="10958576" y="0"/>
                  </a:lnTo>
                  <a:lnTo>
                    <a:pt x="10958576" y="2230755"/>
                  </a:lnTo>
                  <a:lnTo>
                    <a:pt x="0" y="22307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5" t="0" r="-275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18856" y="4262809"/>
            <a:ext cx="8218951" cy="1895675"/>
            <a:chOff x="0" y="0"/>
            <a:chExt cx="10958601" cy="25275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58576" cy="2527554"/>
            </a:xfrm>
            <a:custGeom>
              <a:avLst/>
              <a:gdLst/>
              <a:ahLst/>
              <a:cxnLst/>
              <a:rect r="r" b="b" t="t" l="l"/>
              <a:pathLst>
                <a:path h="2527554" w="10958576">
                  <a:moveTo>
                    <a:pt x="0" y="0"/>
                  </a:moveTo>
                  <a:lnTo>
                    <a:pt x="10958576" y="0"/>
                  </a:lnTo>
                  <a:lnTo>
                    <a:pt x="10958576" y="2527554"/>
                  </a:lnTo>
                  <a:lnTo>
                    <a:pt x="0" y="25275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6" r="0" b="-156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518856" y="7022592"/>
            <a:ext cx="8467392" cy="2045684"/>
            <a:chOff x="0" y="0"/>
            <a:chExt cx="11289856" cy="272757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289792" cy="2727579"/>
            </a:xfrm>
            <a:custGeom>
              <a:avLst/>
              <a:gdLst/>
              <a:ahLst/>
              <a:cxnLst/>
              <a:rect r="r" b="b" t="t" l="l"/>
              <a:pathLst>
                <a:path h="2727579" w="11289792">
                  <a:moveTo>
                    <a:pt x="0" y="0"/>
                  </a:moveTo>
                  <a:lnTo>
                    <a:pt x="11289792" y="0"/>
                  </a:lnTo>
                  <a:lnTo>
                    <a:pt x="11289792" y="2727579"/>
                  </a:lnTo>
                  <a:lnTo>
                    <a:pt x="0" y="27275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62" r="0" b="-6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67512" y="210312"/>
            <a:ext cx="5723131" cy="476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SQL QUERIES — Q5 TO Q11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4944" y="978408"/>
            <a:ext cx="16276320" cy="285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924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MySQL  |  Data Transformation &amp; Calculated Columns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28172" y="3927662"/>
            <a:ext cx="2361571" cy="28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D2A614"/>
                </a:solidFill>
                <a:latin typeface="Aptos Bold"/>
                <a:ea typeface="Aptos Bold"/>
                <a:cs typeface="Aptos Bold"/>
                <a:sym typeface="Aptos Bold"/>
              </a:rPr>
              <a:t>Q10- Quarter-Wise Sales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0040" y="1540764"/>
            <a:ext cx="7786116" cy="29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D2A614"/>
                </a:solidFill>
                <a:latin typeface="Aptos Bold"/>
                <a:ea typeface="Aptos Bold"/>
                <a:cs typeface="Aptos Bold"/>
                <a:sym typeface="Aptos Bold"/>
              </a:rPr>
              <a:t>Q5 — Production Cost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20549" y="9573101"/>
            <a:ext cx="4608997" cy="21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9"/>
              </a:lnSpc>
            </a:pPr>
            <a:r>
              <a:rPr lang="en-US" sz="1474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AdventureWorks Cycles  |  Sales Analysis  |  Group  - 4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4778" y="6589843"/>
            <a:ext cx="3311347" cy="28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D2A614"/>
                </a:solidFill>
                <a:latin typeface="Aptos Bold"/>
                <a:ea typeface="Aptos Bold"/>
                <a:cs typeface="Aptos Bold"/>
                <a:sym typeface="Aptos Bold"/>
              </a:rPr>
              <a:t>Q7 &amp; 9 — Table for Month and Sales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28172" y="1511475"/>
            <a:ext cx="2022529" cy="28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D2A614"/>
                </a:solidFill>
                <a:latin typeface="Aptos Bold"/>
                <a:ea typeface="Aptos Bold"/>
                <a:cs typeface="Aptos Bold"/>
                <a:sym typeface="Aptos Bold"/>
              </a:rPr>
              <a:t>Q8 – Year-Wise Sales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10296" y="6662861"/>
            <a:ext cx="2897772" cy="28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D2A614"/>
                </a:solidFill>
                <a:latin typeface="Aptos Bold"/>
                <a:ea typeface="Aptos Bold"/>
                <a:cs typeface="Aptos Bold"/>
                <a:sym typeface="Aptos Bold"/>
              </a:rPr>
              <a:t>Q11- Sales VS Production Cost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304675" cy="10287000"/>
          </a:xfrm>
          <a:custGeom>
            <a:avLst/>
            <a:gdLst/>
            <a:ahLst/>
            <a:cxnLst/>
            <a:rect r="r" b="b" t="t" l="l"/>
            <a:pathLst>
              <a:path h="10287000" w="18304675">
                <a:moveTo>
                  <a:pt x="0" y="0"/>
                </a:moveTo>
                <a:lnTo>
                  <a:pt x="18304675" y="0"/>
                </a:lnTo>
                <a:lnTo>
                  <a:pt x="183046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7" t="0" r="-177" b="0"/>
            </a:stretch>
          </a:blipFill>
        </p:spPr>
      </p:sp>
      <p:sp>
        <p:nvSpPr>
          <p:cNvPr name="AutoShape 4" id="4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06680" y="1432560"/>
            <a:ext cx="10206542" cy="8231124"/>
            <a:chOff x="0" y="0"/>
            <a:chExt cx="13608723" cy="10974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08686" cy="10974832"/>
            </a:xfrm>
            <a:custGeom>
              <a:avLst/>
              <a:gdLst/>
              <a:ahLst/>
              <a:cxnLst/>
              <a:rect r="r" b="b" t="t" l="l"/>
              <a:pathLst>
                <a:path h="10974832" w="13608686">
                  <a:moveTo>
                    <a:pt x="0" y="1829181"/>
                  </a:moveTo>
                  <a:cubicBezTo>
                    <a:pt x="0" y="818896"/>
                    <a:pt x="818896" y="0"/>
                    <a:pt x="1829181" y="0"/>
                  </a:cubicBezTo>
                  <a:lnTo>
                    <a:pt x="11779504" y="0"/>
                  </a:lnTo>
                  <a:cubicBezTo>
                    <a:pt x="12789789" y="0"/>
                    <a:pt x="13608686" y="818896"/>
                    <a:pt x="13608686" y="1829181"/>
                  </a:cubicBezTo>
                  <a:lnTo>
                    <a:pt x="13608686" y="9145651"/>
                  </a:lnTo>
                  <a:cubicBezTo>
                    <a:pt x="13608686" y="10155936"/>
                    <a:pt x="12789789" y="10974832"/>
                    <a:pt x="11779504" y="10974832"/>
                  </a:cubicBezTo>
                  <a:lnTo>
                    <a:pt x="1829181" y="10974832"/>
                  </a:lnTo>
                  <a:cubicBezTo>
                    <a:pt x="818896" y="10974832"/>
                    <a:pt x="0" y="10155936"/>
                    <a:pt x="0" y="9145651"/>
                  </a:cubicBezTo>
                  <a:close/>
                </a:path>
              </a:pathLst>
            </a:custGeom>
            <a:solidFill>
              <a:srgbClr val="102738">
                <a:alpha val="49804"/>
              </a:srgbClr>
            </a:solidFill>
            <a:ln w="15240" cap="sq">
              <a:solidFill>
                <a:srgbClr val="405B6C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502722" y="1432560"/>
            <a:ext cx="7678598" cy="5978900"/>
            <a:chOff x="0" y="0"/>
            <a:chExt cx="10238130" cy="79718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38105" cy="7971917"/>
            </a:xfrm>
            <a:custGeom>
              <a:avLst/>
              <a:gdLst/>
              <a:ahLst/>
              <a:cxnLst/>
              <a:rect r="r" b="b" t="t" l="l"/>
              <a:pathLst>
                <a:path h="7971917" w="10238105">
                  <a:moveTo>
                    <a:pt x="0" y="1328674"/>
                  </a:moveTo>
                  <a:cubicBezTo>
                    <a:pt x="0" y="594868"/>
                    <a:pt x="594868" y="0"/>
                    <a:pt x="1328674" y="0"/>
                  </a:cubicBezTo>
                  <a:lnTo>
                    <a:pt x="8909431" y="0"/>
                  </a:lnTo>
                  <a:cubicBezTo>
                    <a:pt x="9643238" y="0"/>
                    <a:pt x="10238105" y="594868"/>
                    <a:pt x="10238105" y="1328674"/>
                  </a:cubicBezTo>
                  <a:lnTo>
                    <a:pt x="10238105" y="6643243"/>
                  </a:lnTo>
                  <a:cubicBezTo>
                    <a:pt x="10238105" y="7377050"/>
                    <a:pt x="9643238" y="7971917"/>
                    <a:pt x="8909431" y="7971917"/>
                  </a:cubicBezTo>
                  <a:lnTo>
                    <a:pt x="1328674" y="7971917"/>
                  </a:lnTo>
                  <a:cubicBezTo>
                    <a:pt x="594868" y="7971917"/>
                    <a:pt x="0" y="7377049"/>
                    <a:pt x="0" y="6643243"/>
                  </a:cubicBezTo>
                  <a:close/>
                </a:path>
              </a:pathLst>
            </a:custGeom>
            <a:solidFill>
              <a:srgbClr val="102738">
                <a:alpha val="54902"/>
              </a:srgbClr>
            </a:solidFill>
            <a:ln w="15240" cap="sq">
              <a:solidFill>
                <a:srgbClr val="405B6C">
                  <a:alpha val="54902"/>
                </a:srgbClr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44691" y="2259006"/>
            <a:ext cx="9732369" cy="4487027"/>
            <a:chOff x="0" y="0"/>
            <a:chExt cx="12976492" cy="59827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976479" cy="5982716"/>
            </a:xfrm>
            <a:custGeom>
              <a:avLst/>
              <a:gdLst/>
              <a:ahLst/>
              <a:cxnLst/>
              <a:rect r="r" b="b" t="t" l="l"/>
              <a:pathLst>
                <a:path h="5982716" w="12976479">
                  <a:moveTo>
                    <a:pt x="0" y="0"/>
                  </a:moveTo>
                  <a:lnTo>
                    <a:pt x="12976479" y="0"/>
                  </a:lnTo>
                  <a:lnTo>
                    <a:pt x="12976479" y="5982716"/>
                  </a:lnTo>
                  <a:lnTo>
                    <a:pt x="0" y="598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5" r="0" b="-4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44691" y="6746034"/>
            <a:ext cx="9732369" cy="2100786"/>
            <a:chOff x="0" y="0"/>
            <a:chExt cx="12976492" cy="28010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976479" cy="2801112"/>
            </a:xfrm>
            <a:custGeom>
              <a:avLst/>
              <a:gdLst/>
              <a:ahLst/>
              <a:cxnLst/>
              <a:rect r="r" b="b" t="t" l="l"/>
              <a:pathLst>
                <a:path h="2801112" w="12976479">
                  <a:moveTo>
                    <a:pt x="0" y="0"/>
                  </a:moveTo>
                  <a:lnTo>
                    <a:pt x="12976479" y="0"/>
                  </a:lnTo>
                  <a:lnTo>
                    <a:pt x="12976479" y="2801112"/>
                  </a:lnTo>
                  <a:lnTo>
                    <a:pt x="0" y="2801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0" r="0" b="-7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706881" y="2259006"/>
            <a:ext cx="7278424" cy="4487027"/>
            <a:chOff x="0" y="0"/>
            <a:chExt cx="9704565" cy="59827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04578" cy="5982716"/>
            </a:xfrm>
            <a:custGeom>
              <a:avLst/>
              <a:gdLst/>
              <a:ahLst/>
              <a:cxnLst/>
              <a:rect r="r" b="b" t="t" l="l"/>
              <a:pathLst>
                <a:path h="5982716" w="9704578">
                  <a:moveTo>
                    <a:pt x="0" y="0"/>
                  </a:moveTo>
                  <a:lnTo>
                    <a:pt x="9704578" y="0"/>
                  </a:lnTo>
                  <a:lnTo>
                    <a:pt x="9704578" y="5982716"/>
                  </a:lnTo>
                  <a:lnTo>
                    <a:pt x="0" y="5982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8" r="0" b="-28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48548" y="162328"/>
            <a:ext cx="5888068" cy="476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SQL QUERIES — Q12  &amp; Q13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4944" y="978408"/>
            <a:ext cx="16276320" cy="285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924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MySQL  |  Data Transformation &amp; Calculated Columns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9023" y="1843792"/>
            <a:ext cx="2498627" cy="28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D2A614"/>
                </a:solidFill>
                <a:latin typeface="Aptos Bold"/>
                <a:ea typeface="Aptos Bold"/>
                <a:cs typeface="Aptos Bold"/>
                <a:sym typeface="Aptos Bold"/>
              </a:rPr>
              <a:t>Q12—  KIP’S Development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58698" y="9952863"/>
            <a:ext cx="3770605" cy="252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AdventureWorks Cycles  |  Sales Analysis  |  Group - 4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96098" y="1891446"/>
            <a:ext cx="2094662" cy="28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D2A614"/>
                </a:solidFill>
                <a:latin typeface="Aptos Bold"/>
                <a:ea typeface="Aptos Bold"/>
                <a:cs typeface="Aptos Bold"/>
                <a:sym typeface="Aptos Bold"/>
              </a:rPr>
              <a:t>Q13 —  Overall Report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59" y="0"/>
            <a:ext cx="18287543" cy="10287000"/>
          </a:xfrm>
          <a:custGeom>
            <a:avLst/>
            <a:gdLst/>
            <a:ahLst/>
            <a:cxnLst/>
            <a:rect r="r" b="b" t="t" l="l"/>
            <a:pathLst>
              <a:path h="10287000" w="18287543">
                <a:moveTo>
                  <a:pt x="0" y="0"/>
                </a:moveTo>
                <a:lnTo>
                  <a:pt x="18287542" y="0"/>
                </a:lnTo>
                <a:lnTo>
                  <a:pt x="1828754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77" r="-1609" b="-577"/>
            </a:stretch>
          </a:blipFill>
        </p:spPr>
      </p:sp>
      <p:sp>
        <p:nvSpPr>
          <p:cNvPr name="AutoShape 3" id="3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0" y="987552"/>
            <a:ext cx="18287543" cy="68580"/>
            <a:chOff x="0" y="0"/>
            <a:chExt cx="24383390" cy="91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3364" cy="91440"/>
            </a:xfrm>
            <a:custGeom>
              <a:avLst/>
              <a:gdLst/>
              <a:ahLst/>
              <a:cxnLst/>
              <a:rect r="r" b="b" t="t" l="l"/>
              <a:pathLst>
                <a:path h="914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C91E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4838" y="1290638"/>
            <a:ext cx="3110865" cy="1190625"/>
            <a:chOff x="0" y="0"/>
            <a:chExt cx="4147820" cy="158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47820" cy="1587373"/>
            </a:xfrm>
            <a:custGeom>
              <a:avLst/>
              <a:gdLst/>
              <a:ahLst/>
              <a:cxnLst/>
              <a:rect r="r" b="b" t="t" l="l"/>
              <a:pathLst>
                <a:path h="1587373" w="4147820">
                  <a:moveTo>
                    <a:pt x="0" y="264541"/>
                  </a:moveTo>
                  <a:cubicBezTo>
                    <a:pt x="0" y="118491"/>
                    <a:pt x="118491" y="0"/>
                    <a:pt x="264541" y="0"/>
                  </a:cubicBezTo>
                  <a:lnTo>
                    <a:pt x="3883279" y="0"/>
                  </a:lnTo>
                  <a:cubicBezTo>
                    <a:pt x="4029456" y="0"/>
                    <a:pt x="4147820" y="118491"/>
                    <a:pt x="4147820" y="264541"/>
                  </a:cubicBezTo>
                  <a:lnTo>
                    <a:pt x="4147820" y="1322832"/>
                  </a:lnTo>
                  <a:cubicBezTo>
                    <a:pt x="4147820" y="1469009"/>
                    <a:pt x="4029329" y="1587373"/>
                    <a:pt x="3883279" y="1587373"/>
                  </a:cubicBezTo>
                  <a:lnTo>
                    <a:pt x="264541" y="1587373"/>
                  </a:lnTo>
                  <a:cubicBezTo>
                    <a:pt x="118491" y="1587500"/>
                    <a:pt x="0" y="1469009"/>
                    <a:pt x="0" y="1322959"/>
                  </a:cubicBezTo>
                  <a:close/>
                </a:path>
              </a:pathLst>
            </a:custGeom>
            <a:solidFill>
              <a:srgbClr val="0C1F32"/>
            </a:solidFill>
            <a:ln w="24765" cap="sq">
              <a:solidFill>
                <a:srgbClr val="3CC3F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17220" y="1495044"/>
            <a:ext cx="3086100" cy="42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true">
                <a:solidFill>
                  <a:srgbClr val="3CC3FF"/>
                </a:solidFill>
                <a:latin typeface="Aptos Bold"/>
                <a:ea typeface="Aptos Bold"/>
                <a:cs typeface="Aptos Bold"/>
                <a:sym typeface="Aptos Bold"/>
              </a:rPr>
              <a:t>29.36M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7220" y="2016252"/>
            <a:ext cx="308610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A6BCD0"/>
                </a:solidFill>
                <a:latin typeface="Aptos"/>
                <a:ea typeface="Aptos"/>
                <a:cs typeface="Aptos"/>
                <a:sym typeface="Aptos"/>
              </a:rPr>
              <a:t>Total Sales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690938" y="1290638"/>
            <a:ext cx="3110865" cy="1190625"/>
            <a:chOff x="0" y="0"/>
            <a:chExt cx="4147820" cy="1587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47820" cy="1587373"/>
            </a:xfrm>
            <a:custGeom>
              <a:avLst/>
              <a:gdLst/>
              <a:ahLst/>
              <a:cxnLst/>
              <a:rect r="r" b="b" t="t" l="l"/>
              <a:pathLst>
                <a:path h="1587373" w="4147820">
                  <a:moveTo>
                    <a:pt x="0" y="264541"/>
                  </a:moveTo>
                  <a:cubicBezTo>
                    <a:pt x="0" y="118491"/>
                    <a:pt x="118491" y="0"/>
                    <a:pt x="264541" y="0"/>
                  </a:cubicBezTo>
                  <a:lnTo>
                    <a:pt x="3883279" y="0"/>
                  </a:lnTo>
                  <a:cubicBezTo>
                    <a:pt x="4029456" y="0"/>
                    <a:pt x="4147820" y="118491"/>
                    <a:pt x="4147820" y="264541"/>
                  </a:cubicBezTo>
                  <a:lnTo>
                    <a:pt x="4147820" y="1322832"/>
                  </a:lnTo>
                  <a:cubicBezTo>
                    <a:pt x="4147820" y="1469009"/>
                    <a:pt x="4029329" y="1587373"/>
                    <a:pt x="3883279" y="1587373"/>
                  </a:cubicBezTo>
                  <a:lnTo>
                    <a:pt x="264541" y="1587373"/>
                  </a:lnTo>
                  <a:cubicBezTo>
                    <a:pt x="118491" y="1587500"/>
                    <a:pt x="0" y="1469009"/>
                    <a:pt x="0" y="1322959"/>
                  </a:cubicBezTo>
                  <a:close/>
                </a:path>
              </a:pathLst>
            </a:custGeom>
            <a:solidFill>
              <a:srgbClr val="0C1F32"/>
            </a:solidFill>
            <a:ln w="24765" cap="sq">
              <a:solidFill>
                <a:srgbClr val="21AA77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3703320" y="1495044"/>
            <a:ext cx="3086100" cy="42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true">
                <a:solidFill>
                  <a:srgbClr val="21AA77"/>
                </a:solidFill>
                <a:latin typeface="Aptos Bold"/>
                <a:ea typeface="Aptos Bold"/>
                <a:cs typeface="Aptos Bold"/>
                <a:sym typeface="Aptos Bold"/>
              </a:rPr>
              <a:t>12.08M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03320" y="2016252"/>
            <a:ext cx="308610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A6BCD0"/>
                </a:solidFill>
                <a:latin typeface="Aptos"/>
                <a:ea typeface="Aptos"/>
                <a:cs typeface="Aptos"/>
                <a:sym typeface="Aptos"/>
              </a:rPr>
              <a:t>Total Profit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777038" y="1290638"/>
            <a:ext cx="3110865" cy="1190625"/>
            <a:chOff x="0" y="0"/>
            <a:chExt cx="4147820" cy="1587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47820" cy="1587373"/>
            </a:xfrm>
            <a:custGeom>
              <a:avLst/>
              <a:gdLst/>
              <a:ahLst/>
              <a:cxnLst/>
              <a:rect r="r" b="b" t="t" l="l"/>
              <a:pathLst>
                <a:path h="1587373" w="4147820">
                  <a:moveTo>
                    <a:pt x="0" y="264541"/>
                  </a:moveTo>
                  <a:cubicBezTo>
                    <a:pt x="0" y="118491"/>
                    <a:pt x="118491" y="0"/>
                    <a:pt x="264541" y="0"/>
                  </a:cubicBezTo>
                  <a:lnTo>
                    <a:pt x="3883279" y="0"/>
                  </a:lnTo>
                  <a:cubicBezTo>
                    <a:pt x="4029456" y="0"/>
                    <a:pt x="4147820" y="118491"/>
                    <a:pt x="4147820" y="264541"/>
                  </a:cubicBezTo>
                  <a:lnTo>
                    <a:pt x="4147820" y="1322832"/>
                  </a:lnTo>
                  <a:cubicBezTo>
                    <a:pt x="4147820" y="1469009"/>
                    <a:pt x="4029329" y="1587373"/>
                    <a:pt x="3883279" y="1587373"/>
                  </a:cubicBezTo>
                  <a:lnTo>
                    <a:pt x="264541" y="1587373"/>
                  </a:lnTo>
                  <a:cubicBezTo>
                    <a:pt x="118491" y="1587500"/>
                    <a:pt x="0" y="1469009"/>
                    <a:pt x="0" y="1322959"/>
                  </a:cubicBezTo>
                  <a:close/>
                </a:path>
              </a:pathLst>
            </a:custGeom>
            <a:solidFill>
              <a:srgbClr val="0C1F32"/>
            </a:solidFill>
            <a:ln w="24765" cap="sq">
              <a:solidFill>
                <a:srgbClr val="7645B8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6789420" y="1495044"/>
            <a:ext cx="3086100" cy="42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true">
                <a:solidFill>
                  <a:srgbClr val="7645B8"/>
                </a:solidFill>
                <a:latin typeface="Aptos Bold"/>
                <a:ea typeface="Aptos Bold"/>
                <a:cs typeface="Aptos Bold"/>
                <a:sym typeface="Aptos Bold"/>
              </a:rPr>
              <a:t>60.40K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89420" y="2016252"/>
            <a:ext cx="308610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A6BCD0"/>
                </a:solidFill>
                <a:latin typeface="Aptos"/>
                <a:ea typeface="Aptos"/>
                <a:cs typeface="Aptos"/>
                <a:sym typeface="Aptos"/>
              </a:rPr>
              <a:t>Total Orders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63138" y="1290638"/>
            <a:ext cx="3110865" cy="1190625"/>
            <a:chOff x="0" y="0"/>
            <a:chExt cx="4147820" cy="1587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47820" cy="1587373"/>
            </a:xfrm>
            <a:custGeom>
              <a:avLst/>
              <a:gdLst/>
              <a:ahLst/>
              <a:cxnLst/>
              <a:rect r="r" b="b" t="t" l="l"/>
              <a:pathLst>
                <a:path h="1587373" w="4147820">
                  <a:moveTo>
                    <a:pt x="0" y="264541"/>
                  </a:moveTo>
                  <a:cubicBezTo>
                    <a:pt x="0" y="118491"/>
                    <a:pt x="118491" y="0"/>
                    <a:pt x="264541" y="0"/>
                  </a:cubicBezTo>
                  <a:lnTo>
                    <a:pt x="3883279" y="0"/>
                  </a:lnTo>
                  <a:cubicBezTo>
                    <a:pt x="4029456" y="0"/>
                    <a:pt x="4147820" y="118491"/>
                    <a:pt x="4147820" y="264541"/>
                  </a:cubicBezTo>
                  <a:lnTo>
                    <a:pt x="4147820" y="1322832"/>
                  </a:lnTo>
                  <a:cubicBezTo>
                    <a:pt x="4147820" y="1469009"/>
                    <a:pt x="4029329" y="1587373"/>
                    <a:pt x="3883279" y="1587373"/>
                  </a:cubicBezTo>
                  <a:lnTo>
                    <a:pt x="264541" y="1587373"/>
                  </a:lnTo>
                  <a:cubicBezTo>
                    <a:pt x="118491" y="1587500"/>
                    <a:pt x="0" y="1469009"/>
                    <a:pt x="0" y="1322959"/>
                  </a:cubicBezTo>
                  <a:close/>
                </a:path>
              </a:pathLst>
            </a:custGeom>
            <a:solidFill>
              <a:srgbClr val="0C1F32"/>
            </a:solidFill>
            <a:ln w="24765" cap="sq">
              <a:solidFill>
                <a:srgbClr val="CC3A36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875520" y="1495044"/>
            <a:ext cx="3086100" cy="42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true">
                <a:solidFill>
                  <a:srgbClr val="CC3A36"/>
                </a:solidFill>
                <a:latin typeface="Aptos Bold"/>
                <a:ea typeface="Aptos Bold"/>
                <a:cs typeface="Aptos Bold"/>
                <a:sym typeface="Aptos Bold"/>
              </a:rPr>
              <a:t>41.15%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75520" y="2016252"/>
            <a:ext cx="308610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A6BCD0"/>
                </a:solidFill>
                <a:latin typeface="Aptos"/>
                <a:ea typeface="Aptos"/>
                <a:cs typeface="Aptos"/>
                <a:sym typeface="Aptos"/>
              </a:rPr>
              <a:t>Profit Margin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949238" y="1290638"/>
            <a:ext cx="3110865" cy="1190625"/>
            <a:chOff x="0" y="0"/>
            <a:chExt cx="4147820" cy="1587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47820" cy="1587373"/>
            </a:xfrm>
            <a:custGeom>
              <a:avLst/>
              <a:gdLst/>
              <a:ahLst/>
              <a:cxnLst/>
              <a:rect r="r" b="b" t="t" l="l"/>
              <a:pathLst>
                <a:path h="1587373" w="4147820">
                  <a:moveTo>
                    <a:pt x="0" y="264541"/>
                  </a:moveTo>
                  <a:cubicBezTo>
                    <a:pt x="0" y="118491"/>
                    <a:pt x="118491" y="0"/>
                    <a:pt x="264541" y="0"/>
                  </a:cubicBezTo>
                  <a:lnTo>
                    <a:pt x="3883279" y="0"/>
                  </a:lnTo>
                  <a:cubicBezTo>
                    <a:pt x="4029456" y="0"/>
                    <a:pt x="4147820" y="118491"/>
                    <a:pt x="4147820" y="264541"/>
                  </a:cubicBezTo>
                  <a:lnTo>
                    <a:pt x="4147820" y="1322832"/>
                  </a:lnTo>
                  <a:cubicBezTo>
                    <a:pt x="4147820" y="1469009"/>
                    <a:pt x="4029329" y="1587373"/>
                    <a:pt x="3883279" y="1587373"/>
                  </a:cubicBezTo>
                  <a:lnTo>
                    <a:pt x="264541" y="1587373"/>
                  </a:lnTo>
                  <a:cubicBezTo>
                    <a:pt x="118491" y="1587500"/>
                    <a:pt x="0" y="1469009"/>
                    <a:pt x="0" y="1322959"/>
                  </a:cubicBezTo>
                  <a:close/>
                </a:path>
              </a:pathLst>
            </a:custGeom>
            <a:solidFill>
              <a:srgbClr val="0C1F32"/>
            </a:solidFill>
            <a:ln w="24765" cap="sq">
              <a:solidFill>
                <a:srgbClr val="DCAC29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07695" y="2802255"/>
            <a:ext cx="5436870" cy="2419350"/>
            <a:chOff x="0" y="0"/>
            <a:chExt cx="7249160" cy="3225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4916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249160">
                  <a:moveTo>
                    <a:pt x="0" y="537591"/>
                  </a:moveTo>
                  <a:cubicBezTo>
                    <a:pt x="0" y="240665"/>
                    <a:pt x="240665" y="0"/>
                    <a:pt x="537591" y="0"/>
                  </a:cubicBezTo>
                  <a:lnTo>
                    <a:pt x="6711569" y="0"/>
                  </a:lnTo>
                  <a:cubicBezTo>
                    <a:pt x="7008495" y="0"/>
                    <a:pt x="7249160" y="240665"/>
                    <a:pt x="7249160" y="537591"/>
                  </a:cubicBezTo>
                  <a:lnTo>
                    <a:pt x="7249160" y="2688209"/>
                  </a:lnTo>
                  <a:cubicBezTo>
                    <a:pt x="7249160" y="2985135"/>
                    <a:pt x="7008495" y="3225800"/>
                    <a:pt x="6711569" y="3225800"/>
                  </a:cubicBezTo>
                  <a:lnTo>
                    <a:pt x="537591" y="3225800"/>
                  </a:lnTo>
                  <a:cubicBezTo>
                    <a:pt x="240665" y="3225800"/>
                    <a:pt x="0" y="2985135"/>
                    <a:pt x="0" y="2688209"/>
                  </a:cubicBezTo>
                  <a:close/>
                </a:path>
              </a:pathLst>
            </a:custGeom>
            <a:solidFill>
              <a:srgbClr val="0A1828">
                <a:alpha val="24706"/>
              </a:srgbClr>
            </a:solidFill>
            <a:ln w="19050" cap="sq">
              <a:solidFill>
                <a:srgbClr val="1B3E56">
                  <a:alpha val="24706"/>
                </a:srgbClr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17220" y="2811780"/>
            <a:ext cx="5417820" cy="75438"/>
            <a:chOff x="0" y="0"/>
            <a:chExt cx="7223760" cy="1005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223760" cy="100584"/>
            </a:xfrm>
            <a:custGeom>
              <a:avLst/>
              <a:gdLst/>
              <a:ahLst/>
              <a:cxnLst/>
              <a:rect r="r" b="b" t="t" l="l"/>
              <a:pathLst>
                <a:path h="100584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00584"/>
                  </a:lnTo>
                  <a:lnTo>
                    <a:pt x="0" y="100584"/>
                  </a:lnTo>
                  <a:close/>
                </a:path>
              </a:pathLst>
            </a:custGeom>
            <a:solidFill>
              <a:srgbClr val="3CC3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09244" y="3031236"/>
            <a:ext cx="548640" cy="548640"/>
            <a:chOff x="0" y="0"/>
            <a:chExt cx="73152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CC3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244971" y="2802255"/>
            <a:ext cx="5436870" cy="2419350"/>
            <a:chOff x="0" y="0"/>
            <a:chExt cx="7249160" cy="3225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4916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249160">
                  <a:moveTo>
                    <a:pt x="0" y="537591"/>
                  </a:moveTo>
                  <a:cubicBezTo>
                    <a:pt x="0" y="240665"/>
                    <a:pt x="240665" y="0"/>
                    <a:pt x="537591" y="0"/>
                  </a:cubicBezTo>
                  <a:lnTo>
                    <a:pt x="6711569" y="0"/>
                  </a:lnTo>
                  <a:cubicBezTo>
                    <a:pt x="7008495" y="0"/>
                    <a:pt x="7249160" y="240665"/>
                    <a:pt x="7249160" y="537591"/>
                  </a:cubicBezTo>
                  <a:lnTo>
                    <a:pt x="7249160" y="2688209"/>
                  </a:lnTo>
                  <a:cubicBezTo>
                    <a:pt x="7249160" y="2985135"/>
                    <a:pt x="7008495" y="3225800"/>
                    <a:pt x="6711569" y="3225800"/>
                  </a:cubicBezTo>
                  <a:lnTo>
                    <a:pt x="537591" y="3225800"/>
                  </a:lnTo>
                  <a:cubicBezTo>
                    <a:pt x="240665" y="3225800"/>
                    <a:pt x="0" y="2985135"/>
                    <a:pt x="0" y="2688209"/>
                  </a:cubicBezTo>
                  <a:close/>
                </a:path>
              </a:pathLst>
            </a:custGeom>
            <a:solidFill>
              <a:srgbClr val="0A1828">
                <a:alpha val="32941"/>
              </a:srgbClr>
            </a:solidFill>
            <a:ln w="19050" cap="sq">
              <a:solidFill>
                <a:srgbClr val="1B3E56">
                  <a:alpha val="32941"/>
                </a:srgbClr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254496" y="2811780"/>
            <a:ext cx="5417820" cy="75438"/>
            <a:chOff x="0" y="0"/>
            <a:chExt cx="7223760" cy="1005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23760" cy="100584"/>
            </a:xfrm>
            <a:custGeom>
              <a:avLst/>
              <a:gdLst/>
              <a:ahLst/>
              <a:cxnLst/>
              <a:rect r="r" b="b" t="t" l="l"/>
              <a:pathLst>
                <a:path h="100584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00584"/>
                  </a:lnTo>
                  <a:lnTo>
                    <a:pt x="0" y="100584"/>
                  </a:lnTo>
                  <a:close/>
                </a:path>
              </a:pathLst>
            </a:custGeom>
            <a:solidFill>
              <a:srgbClr val="21AA7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446520" y="3031236"/>
            <a:ext cx="548640" cy="548640"/>
            <a:chOff x="0" y="0"/>
            <a:chExt cx="7315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1AA77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882247" y="2802255"/>
            <a:ext cx="5436870" cy="2419350"/>
            <a:chOff x="0" y="0"/>
            <a:chExt cx="7249160" cy="3225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24916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249160">
                  <a:moveTo>
                    <a:pt x="0" y="537591"/>
                  </a:moveTo>
                  <a:cubicBezTo>
                    <a:pt x="0" y="240665"/>
                    <a:pt x="240665" y="0"/>
                    <a:pt x="537591" y="0"/>
                  </a:cubicBezTo>
                  <a:lnTo>
                    <a:pt x="6711569" y="0"/>
                  </a:lnTo>
                  <a:cubicBezTo>
                    <a:pt x="7008495" y="0"/>
                    <a:pt x="7249160" y="240665"/>
                    <a:pt x="7249160" y="537591"/>
                  </a:cubicBezTo>
                  <a:lnTo>
                    <a:pt x="7249160" y="2688209"/>
                  </a:lnTo>
                  <a:cubicBezTo>
                    <a:pt x="7249160" y="2985135"/>
                    <a:pt x="7008495" y="3225800"/>
                    <a:pt x="6711569" y="3225800"/>
                  </a:cubicBezTo>
                  <a:lnTo>
                    <a:pt x="537591" y="3225800"/>
                  </a:lnTo>
                  <a:cubicBezTo>
                    <a:pt x="240665" y="3225800"/>
                    <a:pt x="0" y="2985135"/>
                    <a:pt x="0" y="2688209"/>
                  </a:cubicBezTo>
                  <a:close/>
                </a:path>
              </a:pathLst>
            </a:custGeom>
            <a:solidFill>
              <a:srgbClr val="0A1828">
                <a:alpha val="27843"/>
              </a:srgbClr>
            </a:solidFill>
            <a:ln w="19050" cap="sq">
              <a:solidFill>
                <a:srgbClr val="1B3E56">
                  <a:alpha val="27843"/>
                </a:srgbClr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891772" y="2811780"/>
            <a:ext cx="5417820" cy="75438"/>
            <a:chOff x="0" y="0"/>
            <a:chExt cx="7223760" cy="10058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223760" cy="100584"/>
            </a:xfrm>
            <a:custGeom>
              <a:avLst/>
              <a:gdLst/>
              <a:ahLst/>
              <a:cxnLst/>
              <a:rect r="r" b="b" t="t" l="l"/>
              <a:pathLst>
                <a:path h="100584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00584"/>
                  </a:lnTo>
                  <a:lnTo>
                    <a:pt x="0" y="100584"/>
                  </a:lnTo>
                  <a:close/>
                </a:path>
              </a:pathLst>
            </a:custGeom>
            <a:solidFill>
              <a:srgbClr val="7645B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083796" y="3031236"/>
            <a:ext cx="548640" cy="548640"/>
            <a:chOff x="0" y="0"/>
            <a:chExt cx="7315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7645B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07695" y="5545455"/>
            <a:ext cx="5436870" cy="2419350"/>
            <a:chOff x="0" y="0"/>
            <a:chExt cx="7249160" cy="3225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24916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249160">
                  <a:moveTo>
                    <a:pt x="0" y="537591"/>
                  </a:moveTo>
                  <a:cubicBezTo>
                    <a:pt x="0" y="240665"/>
                    <a:pt x="240665" y="0"/>
                    <a:pt x="537591" y="0"/>
                  </a:cubicBezTo>
                  <a:lnTo>
                    <a:pt x="6711569" y="0"/>
                  </a:lnTo>
                  <a:cubicBezTo>
                    <a:pt x="7008495" y="0"/>
                    <a:pt x="7249160" y="240665"/>
                    <a:pt x="7249160" y="537591"/>
                  </a:cubicBezTo>
                  <a:lnTo>
                    <a:pt x="7249160" y="2688209"/>
                  </a:lnTo>
                  <a:cubicBezTo>
                    <a:pt x="7249160" y="2985135"/>
                    <a:pt x="7008495" y="3225800"/>
                    <a:pt x="6711569" y="3225800"/>
                  </a:cubicBezTo>
                  <a:lnTo>
                    <a:pt x="537591" y="3225800"/>
                  </a:lnTo>
                  <a:cubicBezTo>
                    <a:pt x="240665" y="3225800"/>
                    <a:pt x="0" y="2985135"/>
                    <a:pt x="0" y="2688209"/>
                  </a:cubicBezTo>
                  <a:close/>
                </a:path>
              </a:pathLst>
            </a:custGeom>
            <a:solidFill>
              <a:srgbClr val="0A1828">
                <a:alpha val="26667"/>
              </a:srgbClr>
            </a:solidFill>
            <a:ln w="19050" cap="sq">
              <a:solidFill>
                <a:srgbClr val="1B3E56">
                  <a:alpha val="26667"/>
                </a:srgbClr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617220" y="5554980"/>
            <a:ext cx="5417820" cy="75438"/>
            <a:chOff x="0" y="0"/>
            <a:chExt cx="7223760" cy="10058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223760" cy="100584"/>
            </a:xfrm>
            <a:custGeom>
              <a:avLst/>
              <a:gdLst/>
              <a:ahLst/>
              <a:cxnLst/>
              <a:rect r="r" b="b" t="t" l="l"/>
              <a:pathLst>
                <a:path h="100584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00584"/>
                  </a:lnTo>
                  <a:lnTo>
                    <a:pt x="0" y="100584"/>
                  </a:lnTo>
                  <a:close/>
                </a:path>
              </a:pathLst>
            </a:custGeom>
            <a:solidFill>
              <a:srgbClr val="CC3A3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09244" y="5774436"/>
            <a:ext cx="548640" cy="548640"/>
            <a:chOff x="0" y="0"/>
            <a:chExt cx="73152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CC3A36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244971" y="5545455"/>
            <a:ext cx="5436870" cy="2419350"/>
            <a:chOff x="0" y="0"/>
            <a:chExt cx="7249160" cy="3225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24916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249160">
                  <a:moveTo>
                    <a:pt x="0" y="537591"/>
                  </a:moveTo>
                  <a:cubicBezTo>
                    <a:pt x="0" y="240665"/>
                    <a:pt x="240665" y="0"/>
                    <a:pt x="537591" y="0"/>
                  </a:cubicBezTo>
                  <a:lnTo>
                    <a:pt x="6711569" y="0"/>
                  </a:lnTo>
                  <a:cubicBezTo>
                    <a:pt x="7008495" y="0"/>
                    <a:pt x="7249160" y="240665"/>
                    <a:pt x="7249160" y="537591"/>
                  </a:cubicBezTo>
                  <a:lnTo>
                    <a:pt x="7249160" y="2688209"/>
                  </a:lnTo>
                  <a:cubicBezTo>
                    <a:pt x="7249160" y="2985135"/>
                    <a:pt x="7008495" y="3225800"/>
                    <a:pt x="6711569" y="3225800"/>
                  </a:cubicBezTo>
                  <a:lnTo>
                    <a:pt x="537591" y="3225800"/>
                  </a:lnTo>
                  <a:cubicBezTo>
                    <a:pt x="240665" y="3225800"/>
                    <a:pt x="0" y="2985135"/>
                    <a:pt x="0" y="2688209"/>
                  </a:cubicBezTo>
                  <a:close/>
                </a:path>
              </a:pathLst>
            </a:custGeom>
            <a:solidFill>
              <a:srgbClr val="0A1828">
                <a:alpha val="19608"/>
              </a:srgbClr>
            </a:solidFill>
            <a:ln w="19050" cap="sq">
              <a:solidFill>
                <a:srgbClr val="1B3E56">
                  <a:alpha val="19608"/>
                </a:srgbClr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6254496" y="5554980"/>
            <a:ext cx="5417820" cy="75438"/>
            <a:chOff x="0" y="0"/>
            <a:chExt cx="7223760" cy="1005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223760" cy="100584"/>
            </a:xfrm>
            <a:custGeom>
              <a:avLst/>
              <a:gdLst/>
              <a:ahLst/>
              <a:cxnLst/>
              <a:rect r="r" b="b" t="t" l="l"/>
              <a:pathLst>
                <a:path h="100584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00584"/>
                  </a:lnTo>
                  <a:lnTo>
                    <a:pt x="0" y="100584"/>
                  </a:lnTo>
                  <a:close/>
                </a:path>
              </a:pathLst>
            </a:custGeom>
            <a:solidFill>
              <a:srgbClr val="DCAC29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446520" y="5774436"/>
            <a:ext cx="548640" cy="548640"/>
            <a:chOff x="0" y="0"/>
            <a:chExt cx="73152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DCAC2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882247" y="5545455"/>
            <a:ext cx="5436870" cy="2419350"/>
            <a:chOff x="0" y="0"/>
            <a:chExt cx="7249160" cy="3225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24916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249160">
                  <a:moveTo>
                    <a:pt x="0" y="537591"/>
                  </a:moveTo>
                  <a:cubicBezTo>
                    <a:pt x="0" y="240665"/>
                    <a:pt x="240665" y="0"/>
                    <a:pt x="537591" y="0"/>
                  </a:cubicBezTo>
                  <a:lnTo>
                    <a:pt x="6711569" y="0"/>
                  </a:lnTo>
                  <a:cubicBezTo>
                    <a:pt x="7008495" y="0"/>
                    <a:pt x="7249160" y="240665"/>
                    <a:pt x="7249160" y="537591"/>
                  </a:cubicBezTo>
                  <a:lnTo>
                    <a:pt x="7249160" y="2688209"/>
                  </a:lnTo>
                  <a:cubicBezTo>
                    <a:pt x="7249160" y="2985135"/>
                    <a:pt x="7008495" y="3225800"/>
                    <a:pt x="6711569" y="3225800"/>
                  </a:cubicBezTo>
                  <a:lnTo>
                    <a:pt x="537591" y="3225800"/>
                  </a:lnTo>
                  <a:cubicBezTo>
                    <a:pt x="240665" y="3225800"/>
                    <a:pt x="0" y="2985135"/>
                    <a:pt x="0" y="2688209"/>
                  </a:cubicBezTo>
                  <a:close/>
                </a:path>
              </a:pathLst>
            </a:custGeom>
            <a:solidFill>
              <a:srgbClr val="0A1828">
                <a:alpha val="8627"/>
              </a:srgbClr>
            </a:solidFill>
            <a:ln w="19050" cap="sq">
              <a:solidFill>
                <a:srgbClr val="1B3E56">
                  <a:alpha val="8627"/>
                </a:srgbClr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1891772" y="5554980"/>
            <a:ext cx="5417820" cy="75438"/>
            <a:chOff x="0" y="0"/>
            <a:chExt cx="7223760" cy="10058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223760" cy="100584"/>
            </a:xfrm>
            <a:custGeom>
              <a:avLst/>
              <a:gdLst/>
              <a:ahLst/>
              <a:cxnLst/>
              <a:rect r="r" b="b" t="t" l="l"/>
              <a:pathLst>
                <a:path h="100584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00584"/>
                  </a:lnTo>
                  <a:lnTo>
                    <a:pt x="0" y="100584"/>
                  </a:lnTo>
                  <a:close/>
                </a:path>
              </a:pathLst>
            </a:custGeom>
            <a:solidFill>
              <a:srgbClr val="387BBC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083796" y="5774436"/>
            <a:ext cx="548640" cy="548640"/>
            <a:chOff x="0" y="0"/>
            <a:chExt cx="73152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87BBC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617220" y="219456"/>
            <a:ext cx="63093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KEY INSIGHTS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30936" y="658368"/>
            <a:ext cx="6720840" cy="22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</a:pPr>
            <a:r>
              <a:rPr lang="en-US" b="true" sz="1524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Adventure Works Sales Analysis  |  2010–2014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961620" y="1495044"/>
            <a:ext cx="3086100" cy="42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true">
                <a:solidFill>
                  <a:srgbClr val="DCAC29"/>
                </a:solidFill>
                <a:latin typeface="Aptos Bold"/>
                <a:ea typeface="Aptos Bold"/>
                <a:cs typeface="Aptos Bold"/>
                <a:sym typeface="Aptos Bold"/>
              </a:rPr>
              <a:t>₹486.09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961620" y="2016252"/>
            <a:ext cx="3086100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A6BCD0"/>
                </a:solidFill>
                <a:latin typeface="Aptos"/>
                <a:ea typeface="Aptos"/>
                <a:cs typeface="Aptos"/>
                <a:sym typeface="Aptos"/>
              </a:rPr>
              <a:t>Avg Order Value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809244" y="3072384"/>
            <a:ext cx="54864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508760" y="3017520"/>
            <a:ext cx="425196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Peak Year: 2013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64108" y="3799332"/>
            <a:ext cx="5064528" cy="88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2013 recorded the highest annual sales at approximately 16.4M, representing the strongest year in the analysis period.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446520" y="3072384"/>
            <a:ext cx="54864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146036" y="3017520"/>
            <a:ext cx="425196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Top Region: Southwest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501384" y="3799332"/>
            <a:ext cx="5064538" cy="88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Southwest led regional performance. Australia was the strongest international market by sales.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083796" y="3072384"/>
            <a:ext cx="54864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783312" y="3017520"/>
            <a:ext cx="425196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Top Product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138660" y="3799332"/>
            <a:ext cx="5148043" cy="88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Mountain-200 Black (42) was the best-selling product at roughly 1.37M, with mountain bikes dominating the top performers.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809244" y="5815584"/>
            <a:ext cx="54864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508760" y="5760720"/>
            <a:ext cx="425196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Top Customer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864108" y="6542532"/>
            <a:ext cx="4896612" cy="88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Jordan Turner led customer purchases at about 16.0K, while the top customers were closely grouped.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6446520" y="5815584"/>
            <a:ext cx="54864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5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146036" y="5760720"/>
            <a:ext cx="425196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Q4 Peaks Sales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6501384" y="6542532"/>
            <a:ext cx="5064538" cy="88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Q4 consistently delivered the strongest quarterly sales, indicating a clear year-end seasonal effect.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2083796" y="5815584"/>
            <a:ext cx="54864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6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783312" y="5760720"/>
            <a:ext cx="425196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Sales &gt; Cost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138660" y="6542532"/>
            <a:ext cx="5006340" cy="88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Production cost remained below sales across the period, supporting a healthy overall margin of about 41%.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5952630" y="9701403"/>
            <a:ext cx="6405601" cy="21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3CC3FF"/>
                </a:solidFill>
                <a:latin typeface="Aptos"/>
                <a:ea typeface="Aptos"/>
                <a:cs typeface="Aptos"/>
                <a:sym typeface="Aptos"/>
              </a:rPr>
              <a:t>Adventure Works Cycles  |  Key Insights  |  Excel • SQL • Power BI • Tableau  |  Group - 4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100000">
            <a:off x="16620344" y="5124850"/>
            <a:ext cx="195657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100000">
            <a:off x="12874009" y="7017144"/>
            <a:ext cx="634567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100000">
            <a:off x="14839159" y="6345241"/>
            <a:ext cx="404336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100000">
            <a:off x="15092020" y="5996388"/>
            <a:ext cx="37638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100000">
            <a:off x="15953394" y="6467475"/>
            <a:ext cx="27546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690" r="0" b="-7531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14934" y="1916405"/>
            <a:ext cx="5698012" cy="124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39"/>
              </a:lnSpc>
            </a:pPr>
            <a:r>
              <a:rPr lang="en-US" sz="8199" b="true">
                <a:solidFill>
                  <a:srgbClr val="F5F8FA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54580" y="4040349"/>
            <a:ext cx="13578840" cy="49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199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Adventure Works Sales Analysis 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12576" y="5421320"/>
            <a:ext cx="12618720" cy="40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9"/>
              </a:lnSpc>
            </a:pPr>
            <a:r>
              <a:rPr lang="en-US" sz="2649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Excel  |  SQL  |  Power BI  |  Tableau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25036" y="9952863"/>
            <a:ext cx="3837937" cy="252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AdventureWorks Cycles  |  Sales Analysis  |  Group  - 4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DAHVwFxyI3I</dc:identifier>
  <dcterms:modified xsi:type="dcterms:W3CDTF">2011-08-01T06:04:30Z</dcterms:modified>
  <cp:revision>1</cp:revision>
  <dc:title>Proposal</dc:title>
</cp:coreProperties>
</file>